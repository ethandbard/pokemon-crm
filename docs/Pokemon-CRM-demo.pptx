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7" r:id="rId18"/>
    <p:sldId id="268" r:id="rId19"/>
    <p:sldId id="269" r:id="rId20"/>
    <p:sldId id="270" r:id="rId21"/>
    <p:sldId id="264" r:id="rId10"/>
    <p:sldId id="271" r:id="rId22"/>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Pokémon CRM is a learning sandbox that borrows the shape of a student-advising CRM. Everything is real: 1,025 Pokémon seeded from PokeAPI into Postgres, a full Express API, and eight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mapping is what makes the sandbox useful — every feature has a real advising counterpart. Evolution chains as a degree plan is the one that unlocked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queue turns the app from something you browse into something that tells you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Weights live in one constants file. Because the same numbers produce the score and the reason text, they cannot disagree. The pace assumption is disclosed in the API response and printed under the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mixed-up version of these tiles shipped once — "5 active" beside a mean computed over 6. Now everything filters retired consistently.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HTML5 drag events — four fixed targets, no reordering within a column, which is exactly the case native DnD handles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Bulk flag actions set an explicit target state rather than toggling — toggling a mixed selection would leave it inconsistent.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541 evolution chains fetched once each and walked into per-species facts. Chain length is the deepest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dual-axis charts anywhere: two measures on different scales become two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1,025 records the palette is the biggest usability win per line of code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backlog is mostly PokeAPI data the seed already fetches and throws away, plus test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Moves are the course catalogue in the advising analogy — pokemon_moves is the enrolment record, one row per Pokémon, move and learn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learn-method breakdown is the part worth pausing on: it is the same join read three ways, and none of it is precomputed.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and flags are attributed to whoever the app is acting as. There is no auth behind it — the header is unverified, and the deck says so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surfaces, one table. Point out that the log entry and the toggle are the same row, so deleting the entry is how you clear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page not backed by the CRM database — it is here to show the workbook alongside the app's own charts, not to duplicate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A1710"/>
        </a:solidFill>
      </p:bgPr>
    </p:bg>
    <p:spTree>
      <p:nvGrpSpPr>
        <p:cNvPr id="1" name=""/>
        <p:cNvGrpSpPr/>
        <p:nvPr/>
      </p:nvGrpSpPr>
      <p:grpSpPr>
        <a:xfrm>
          <a:off x="0" y="0"/>
          <a:ext cx="0" cy="0"/>
          <a:chOff x="0" y="0"/>
          <a:chExt cx="0" cy="0"/>
        </a:xfrm>
      </p:grpSpPr>
      <p:sp>
        <p:nvSpPr>
          <p:cNvPr id="2" name="Shape 0"/>
          <p:cNvSpPr/>
          <p:nvPr/>
        </p:nvSpPr>
        <p:spPr>
          <a:xfrm>
            <a:off x="777240" y="1371600"/>
            <a:ext cx="841248" cy="841248"/>
          </a:xfrm>
          <a:prstGeom prst="roundRect">
            <a:avLst>
              <a:gd name="adj" fmla="val 23913"/>
            </a:avLst>
          </a:prstGeom>
          <a:solidFill>
            <a:srgbClr val="D92D20"/>
          </a:solidFill>
          <a:ln/>
        </p:spPr>
      </p:sp>
      <p:sp>
        <p:nvSpPr>
          <p:cNvPr id="3" name="Text 1"/>
          <p:cNvSpPr/>
          <p:nvPr/>
        </p:nvSpPr>
        <p:spPr>
          <a:xfrm>
            <a:off x="777240" y="1371600"/>
            <a:ext cx="841248" cy="841248"/>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P</a:t>
            </a:r>
            <a:endParaRPr lang="en-US" sz="4000" dirty="0"/>
          </a:p>
        </p:txBody>
      </p:sp>
      <p:sp>
        <p:nvSpPr>
          <p:cNvPr id="4" name="Text 2"/>
          <p:cNvSpPr/>
          <p:nvPr/>
        </p:nvSpPr>
        <p:spPr>
          <a:xfrm>
            <a:off x="777240" y="2423160"/>
            <a:ext cx="10058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Pokémon CRM</a:t>
            </a:r>
            <a:endParaRPr lang="en-US" sz="5400" dirty="0"/>
          </a:p>
        </p:txBody>
      </p:sp>
      <p:sp>
        <p:nvSpPr>
          <p:cNvPr id="5" name="Text 3"/>
          <p:cNvSpPr/>
          <p:nvPr/>
        </p:nvSpPr>
        <p:spPr>
          <a:xfrm>
            <a:off x="777240" y="3337560"/>
            <a:ext cx="10058400" cy="457200"/>
          </a:xfrm>
          <a:prstGeom prst="rect">
            <a:avLst/>
          </a:prstGeom>
          <a:noFill/>
          <a:ln/>
        </p:spPr>
        <p:txBody>
          <a:bodyPr wrap="square" lIns="0" tIns="0" rIns="0" bIns="0" rtlCol="0" anchor="ctr"/>
          <a:lstStyle/>
          <a:p>
            <a:pPr indent="0" marL="0">
              <a:buNone/>
            </a:pPr>
            <a:r>
              <a:rPr lang="en-US" sz="2000" dirty="0">
                <a:solidFill>
                  <a:srgbClr val="F3C9C4"/>
                </a:solidFill>
                <a:latin typeface="Calibri" pitchFamily="34" charset="0"/>
                <a:ea typeface="Calibri" pitchFamily="34" charset="-122"/>
                <a:cs typeface="Calibri" pitchFamily="34" charset="-120"/>
              </a:rPr>
              <a:t>An advising-style CRM, built on the National Pokédex</a:t>
            </a:r>
            <a:endParaRPr lang="en-US" sz="2000" dirty="0"/>
          </a:p>
        </p:txBody>
      </p:sp>
      <p:sp>
        <p:nvSpPr>
          <p:cNvPr id="6" name="Text 4"/>
          <p:cNvSpPr/>
          <p:nvPr/>
        </p:nvSpPr>
        <p:spPr>
          <a:xfrm>
            <a:off x="777240" y="4343400"/>
            <a:ext cx="210312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1,025</a:t>
            </a:r>
            <a:endParaRPr lang="en-US" sz="3400" dirty="0"/>
          </a:p>
        </p:txBody>
      </p:sp>
      <p:sp>
        <p:nvSpPr>
          <p:cNvPr id="7" name="Text 5"/>
          <p:cNvSpPr/>
          <p:nvPr/>
        </p:nvSpPr>
        <p:spPr>
          <a:xfrm>
            <a:off x="777240" y="4956048"/>
            <a:ext cx="2103120" cy="320040"/>
          </a:xfrm>
          <a:prstGeom prst="rect">
            <a:avLst/>
          </a:prstGeom>
          <a:noFill/>
          <a:ln/>
        </p:spPr>
        <p:txBody>
          <a:bodyPr wrap="square" lIns="0" tIns="0" rIns="0" bIns="0" rtlCol="0" anchor="ctr"/>
          <a:lstStyle/>
          <a:p>
            <a:pPr indent="0" marL="0">
              <a:buNone/>
            </a:pPr>
            <a:r>
              <a:rPr lang="en-US" sz="1200" dirty="0">
                <a:solidFill>
                  <a:srgbClr val="E9A8A1"/>
                </a:solidFill>
                <a:latin typeface="Calibri" pitchFamily="34" charset="0"/>
                <a:ea typeface="Calibri" pitchFamily="34" charset="-122"/>
                <a:cs typeface="Calibri" pitchFamily="34" charset="-120"/>
              </a:rPr>
              <a:t>Pokémon seeded</a:t>
            </a:r>
            <a:endParaRPr lang="en-US" sz="1200" dirty="0"/>
          </a:p>
        </p:txBody>
      </p:sp>
      <p:sp>
        <p:nvSpPr>
          <p:cNvPr id="8" name="Text 6"/>
          <p:cNvSpPr/>
          <p:nvPr/>
        </p:nvSpPr>
        <p:spPr>
          <a:xfrm>
            <a:off x="3154680" y="4343400"/>
            <a:ext cx="210312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10</a:t>
            </a:r>
            <a:endParaRPr lang="en-US" sz="3400" dirty="0"/>
          </a:p>
        </p:txBody>
      </p:sp>
      <p:sp>
        <p:nvSpPr>
          <p:cNvPr id="9" name="Text 7"/>
          <p:cNvSpPr/>
          <p:nvPr/>
        </p:nvSpPr>
        <p:spPr>
          <a:xfrm>
            <a:off x="3154680" y="4956048"/>
            <a:ext cx="2103120" cy="320040"/>
          </a:xfrm>
          <a:prstGeom prst="rect">
            <a:avLst/>
          </a:prstGeom>
          <a:noFill/>
          <a:ln/>
        </p:spPr>
        <p:txBody>
          <a:bodyPr wrap="square" lIns="0" tIns="0" rIns="0" bIns="0" rtlCol="0" anchor="ctr"/>
          <a:lstStyle/>
          <a:p>
            <a:pPr indent="0" marL="0">
              <a:buNone/>
            </a:pPr>
            <a:r>
              <a:rPr lang="en-US" sz="1200" dirty="0">
                <a:solidFill>
                  <a:srgbClr val="E9A8A1"/>
                </a:solidFill>
                <a:latin typeface="Calibri" pitchFamily="34" charset="0"/>
                <a:ea typeface="Calibri" pitchFamily="34" charset="-122"/>
                <a:cs typeface="Calibri" pitchFamily="34" charset="-120"/>
              </a:rPr>
              <a:t>pages</a:t>
            </a:r>
            <a:endParaRPr lang="en-US" sz="1200" dirty="0"/>
          </a:p>
        </p:txBody>
      </p:sp>
      <p:sp>
        <p:nvSpPr>
          <p:cNvPr id="10" name="Text 8"/>
          <p:cNvSpPr/>
          <p:nvPr/>
        </p:nvSpPr>
        <p:spPr>
          <a:xfrm>
            <a:off x="5532120" y="4343400"/>
            <a:ext cx="210312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9</a:t>
            </a:r>
            <a:endParaRPr lang="en-US" sz="3400" dirty="0"/>
          </a:p>
        </p:txBody>
      </p:sp>
      <p:sp>
        <p:nvSpPr>
          <p:cNvPr id="11" name="Text 9"/>
          <p:cNvSpPr/>
          <p:nvPr/>
        </p:nvSpPr>
        <p:spPr>
          <a:xfrm>
            <a:off x="5532120" y="4956048"/>
            <a:ext cx="2103120" cy="320040"/>
          </a:xfrm>
          <a:prstGeom prst="rect">
            <a:avLst/>
          </a:prstGeom>
          <a:noFill/>
          <a:ln/>
        </p:spPr>
        <p:txBody>
          <a:bodyPr wrap="square" lIns="0" tIns="0" rIns="0" bIns="0" rtlCol="0" anchor="ctr"/>
          <a:lstStyle/>
          <a:p>
            <a:pPr indent="0" marL="0">
              <a:buNone/>
            </a:pPr>
            <a:r>
              <a:rPr lang="en-US" sz="1200" dirty="0">
                <a:solidFill>
                  <a:srgbClr val="E9A8A1"/>
                </a:solidFill>
                <a:latin typeface="Calibri" pitchFamily="34" charset="0"/>
                <a:ea typeface="Calibri" pitchFamily="34" charset="-122"/>
                <a:cs typeface="Calibri" pitchFamily="34" charset="-120"/>
              </a:rPr>
              <a:t>tables</a:t>
            </a:r>
            <a:endParaRPr lang="en-US" sz="1200" dirty="0"/>
          </a:p>
        </p:txBody>
      </p:sp>
      <p:sp>
        <p:nvSpPr>
          <p:cNvPr id="12" name="Text 10"/>
          <p:cNvSpPr/>
          <p:nvPr/>
        </p:nvSpPr>
        <p:spPr>
          <a:xfrm>
            <a:off x="7909560" y="4343400"/>
            <a:ext cx="210312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31</a:t>
            </a:r>
            <a:endParaRPr lang="en-US" sz="3400" dirty="0"/>
          </a:p>
        </p:txBody>
      </p:sp>
      <p:sp>
        <p:nvSpPr>
          <p:cNvPr id="13" name="Text 11"/>
          <p:cNvSpPr/>
          <p:nvPr/>
        </p:nvSpPr>
        <p:spPr>
          <a:xfrm>
            <a:off x="7909560" y="4956048"/>
            <a:ext cx="2103120" cy="320040"/>
          </a:xfrm>
          <a:prstGeom prst="rect">
            <a:avLst/>
          </a:prstGeom>
          <a:noFill/>
          <a:ln/>
        </p:spPr>
        <p:txBody>
          <a:bodyPr wrap="square" lIns="0" tIns="0" rIns="0" bIns="0" rtlCol="0" anchor="ctr"/>
          <a:lstStyle/>
          <a:p>
            <a:pPr indent="0" marL="0">
              <a:buNone/>
            </a:pPr>
            <a:r>
              <a:rPr lang="en-US" sz="1200" dirty="0">
                <a:solidFill>
                  <a:srgbClr val="E9A8A1"/>
                </a:solidFill>
                <a:latin typeface="Calibri" pitchFamily="34" charset="0"/>
                <a:ea typeface="Calibri" pitchFamily="34" charset="-122"/>
                <a:cs typeface="Calibri" pitchFamily="34" charset="-120"/>
              </a:rPr>
              <a:t>API endpoints</a:t>
            </a:r>
            <a:endParaRPr lang="en-US" sz="1200" dirty="0"/>
          </a:p>
        </p:txBody>
      </p:sp>
      <p:sp>
        <p:nvSpPr>
          <p:cNvPr id="14" name="Text 12"/>
          <p:cNvSpPr/>
          <p:nvPr/>
        </p:nvSpPr>
        <p:spPr>
          <a:xfrm>
            <a:off x="777240" y="6035040"/>
            <a:ext cx="10607040" cy="320040"/>
          </a:xfrm>
          <a:prstGeom prst="rect">
            <a:avLst/>
          </a:prstGeom>
          <a:noFill/>
          <a:ln/>
        </p:spPr>
        <p:txBody>
          <a:bodyPr wrap="square" lIns="0" tIns="0" rIns="0" bIns="0" rtlCol="0" anchor="ctr"/>
          <a:lstStyle/>
          <a:p>
            <a:pPr indent="0" marL="0">
              <a:buNone/>
            </a:pPr>
            <a:r>
              <a:rPr lang="en-US" sz="1100" dirty="0">
                <a:solidFill>
                  <a:srgbClr val="C98B84"/>
                </a:solidFill>
                <a:latin typeface="Calibri" pitchFamily="34" charset="0"/>
                <a:ea typeface="Calibri" pitchFamily="34" charset="-122"/>
                <a:cs typeface="Calibri" pitchFamily="34" charset="-120"/>
              </a:rPr>
              <a:t>Vite · React · TypeScript · Tailwind · Express · Drizzle · PostgreSQL · Recharts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analogy</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Every CRM concept maps onto something in the Pokémon domain.</a:t>
            </a:r>
            <a:endParaRPr lang="en-US" sz="1400" dirty="0"/>
          </a:p>
        </p:txBody>
      </p:sp>
      <p:sp>
        <p:nvSpPr>
          <p:cNvPr id="4" name="Shape 2"/>
          <p:cNvSpPr/>
          <p:nvPr/>
        </p:nvSpPr>
        <p:spPr>
          <a:xfrm>
            <a:off x="548640" y="1691640"/>
            <a:ext cx="3429000" cy="2514600"/>
          </a:xfrm>
          <a:prstGeom prst="roundRect">
            <a:avLst>
              <a:gd name="adj" fmla="val 3636"/>
            </a:avLst>
          </a:prstGeom>
          <a:solidFill>
            <a:srgbClr val="F4F4F2"/>
          </a:solidFill>
          <a:ln w="12700">
            <a:solidFill>
              <a:srgbClr val="E1E0D9"/>
            </a:solidFill>
            <a:prstDash val="solid"/>
          </a:ln>
        </p:spPr>
      </p:sp>
      <p:sp>
        <p:nvSpPr>
          <p:cNvPr id="5" name="Shape 3"/>
          <p:cNvSpPr/>
          <p:nvPr/>
        </p:nvSpPr>
        <p:spPr>
          <a:xfrm>
            <a:off x="841248" y="1965960"/>
            <a:ext cx="384048" cy="384048"/>
          </a:xfrm>
          <a:prstGeom prst="ellipse">
            <a:avLst/>
          </a:prstGeom>
          <a:solidFill>
            <a:srgbClr val="D92D20"/>
          </a:solidFill>
          <a:ln/>
        </p:spPr>
      </p:sp>
      <p:sp>
        <p:nvSpPr>
          <p:cNvPr id="6" name="Text 4"/>
          <p:cNvSpPr/>
          <p:nvPr/>
        </p:nvSpPr>
        <p:spPr>
          <a:xfrm>
            <a:off x="841248"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417320" y="1938528"/>
            <a:ext cx="2377440" cy="384048"/>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Trainer</a:t>
            </a:r>
            <a:endParaRPr lang="en-US" sz="2100" dirty="0"/>
          </a:p>
        </p:txBody>
      </p:sp>
      <p:sp>
        <p:nvSpPr>
          <p:cNvPr id="8" name="Text 6"/>
          <p:cNvSpPr/>
          <p:nvPr/>
        </p:nvSpPr>
        <p:spPr>
          <a:xfrm>
            <a:off x="841248" y="2432304"/>
            <a:ext cx="2834640" cy="320040"/>
          </a:xfrm>
          <a:prstGeom prst="rect">
            <a:avLst/>
          </a:prstGeom>
          <a:noFill/>
          <a:ln/>
        </p:spPr>
        <p:txBody>
          <a:bodyPr wrap="square" lIns="0" tIns="0" rIns="0" bIns="0" rtlCol="0" anchor="ctr"/>
          <a:lstStyle/>
          <a:p>
            <a:pPr indent="0" marL="0">
              <a:buNone/>
            </a:pPr>
            <a:r>
              <a:rPr lang="en-US" sz="1400" i="1" dirty="0">
                <a:solidFill>
                  <a:srgbClr val="B42318"/>
                </a:solidFill>
                <a:latin typeface="Calibri" pitchFamily="34" charset="0"/>
                <a:ea typeface="Calibri" pitchFamily="34" charset="-122"/>
                <a:cs typeface="Calibri" pitchFamily="34" charset="-120"/>
              </a:rPr>
              <a:t>the advisor</a:t>
            </a:r>
            <a:endParaRPr lang="en-US" sz="1400" dirty="0"/>
          </a:p>
        </p:txBody>
      </p:sp>
      <p:sp>
        <p:nvSpPr>
          <p:cNvPr id="9" name="Text 7"/>
          <p:cNvSpPr/>
          <p:nvPr/>
        </p:nvSpPr>
        <p:spPr>
          <a:xfrm>
            <a:off x="841248" y="2816352"/>
            <a:ext cx="2834640" cy="1097280"/>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Owns a roster. Has a region and a specialty, like a department.</a:t>
            </a:r>
            <a:endParaRPr lang="en-US" sz="1300" dirty="0"/>
          </a:p>
        </p:txBody>
      </p:sp>
      <p:sp>
        <p:nvSpPr>
          <p:cNvPr id="10" name="Shape 8"/>
          <p:cNvSpPr/>
          <p:nvPr/>
        </p:nvSpPr>
        <p:spPr>
          <a:xfrm>
            <a:off x="4343400" y="1691640"/>
            <a:ext cx="3429000" cy="2514600"/>
          </a:xfrm>
          <a:prstGeom prst="roundRect">
            <a:avLst>
              <a:gd name="adj" fmla="val 3636"/>
            </a:avLst>
          </a:prstGeom>
          <a:solidFill>
            <a:srgbClr val="F4F4F2"/>
          </a:solidFill>
          <a:ln w="12700">
            <a:solidFill>
              <a:srgbClr val="E1E0D9"/>
            </a:solidFill>
            <a:prstDash val="solid"/>
          </a:ln>
        </p:spPr>
      </p:sp>
      <p:sp>
        <p:nvSpPr>
          <p:cNvPr id="11" name="Shape 9"/>
          <p:cNvSpPr/>
          <p:nvPr/>
        </p:nvSpPr>
        <p:spPr>
          <a:xfrm>
            <a:off x="4636008" y="1965960"/>
            <a:ext cx="384048" cy="384048"/>
          </a:xfrm>
          <a:prstGeom prst="ellipse">
            <a:avLst/>
          </a:prstGeom>
          <a:solidFill>
            <a:srgbClr val="D92D20"/>
          </a:solidFill>
          <a:ln/>
        </p:spPr>
      </p:sp>
      <p:sp>
        <p:nvSpPr>
          <p:cNvPr id="12" name="Text 10"/>
          <p:cNvSpPr/>
          <p:nvPr/>
        </p:nvSpPr>
        <p:spPr>
          <a:xfrm>
            <a:off x="4636008"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5212080" y="1938528"/>
            <a:ext cx="2377440" cy="384048"/>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Roster</a:t>
            </a:r>
            <a:endParaRPr lang="en-US" sz="2100" dirty="0"/>
          </a:p>
        </p:txBody>
      </p:sp>
      <p:sp>
        <p:nvSpPr>
          <p:cNvPr id="14" name="Text 12"/>
          <p:cNvSpPr/>
          <p:nvPr/>
        </p:nvSpPr>
        <p:spPr>
          <a:xfrm>
            <a:off x="4636008" y="2432304"/>
            <a:ext cx="2834640" cy="320040"/>
          </a:xfrm>
          <a:prstGeom prst="rect">
            <a:avLst/>
          </a:prstGeom>
          <a:noFill/>
          <a:ln/>
        </p:spPr>
        <p:txBody>
          <a:bodyPr wrap="square" lIns="0" tIns="0" rIns="0" bIns="0" rtlCol="0" anchor="ctr"/>
          <a:lstStyle/>
          <a:p>
            <a:pPr indent="0" marL="0">
              <a:buNone/>
            </a:pPr>
            <a:r>
              <a:rPr lang="en-US" sz="1400" i="1" dirty="0">
                <a:solidFill>
                  <a:srgbClr val="B42318"/>
                </a:solidFill>
                <a:latin typeface="Calibri" pitchFamily="34" charset="0"/>
                <a:ea typeface="Calibri" pitchFamily="34" charset="-122"/>
                <a:cs typeface="Calibri" pitchFamily="34" charset="-120"/>
              </a:rPr>
              <a:t>the caseload</a:t>
            </a:r>
            <a:endParaRPr lang="en-US" sz="1400" dirty="0"/>
          </a:p>
        </p:txBody>
      </p:sp>
      <p:sp>
        <p:nvSpPr>
          <p:cNvPr id="15" name="Text 13"/>
          <p:cNvSpPr/>
          <p:nvPr/>
        </p:nvSpPr>
        <p:spPr>
          <a:xfrm>
            <a:off x="4636008" y="2816352"/>
            <a:ext cx="2834640" cy="1097280"/>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A many-to-many join. Members are starter, active, reserve, or retired.</a:t>
            </a:r>
            <a:endParaRPr lang="en-US" sz="1300" dirty="0"/>
          </a:p>
        </p:txBody>
      </p:sp>
      <p:sp>
        <p:nvSpPr>
          <p:cNvPr id="16" name="Shape 14"/>
          <p:cNvSpPr/>
          <p:nvPr/>
        </p:nvSpPr>
        <p:spPr>
          <a:xfrm>
            <a:off x="8138160" y="1691640"/>
            <a:ext cx="3429000" cy="2514600"/>
          </a:xfrm>
          <a:prstGeom prst="roundRect">
            <a:avLst>
              <a:gd name="adj" fmla="val 3636"/>
            </a:avLst>
          </a:prstGeom>
          <a:solidFill>
            <a:srgbClr val="F4F4F2"/>
          </a:solidFill>
          <a:ln w="12700">
            <a:solidFill>
              <a:srgbClr val="E1E0D9"/>
            </a:solidFill>
            <a:prstDash val="solid"/>
          </a:ln>
        </p:spPr>
      </p:sp>
      <p:sp>
        <p:nvSpPr>
          <p:cNvPr id="17" name="Shape 15"/>
          <p:cNvSpPr/>
          <p:nvPr/>
        </p:nvSpPr>
        <p:spPr>
          <a:xfrm>
            <a:off x="8430768" y="1965960"/>
            <a:ext cx="384048" cy="384048"/>
          </a:xfrm>
          <a:prstGeom prst="ellipse">
            <a:avLst/>
          </a:prstGeom>
          <a:solidFill>
            <a:srgbClr val="D92D20"/>
          </a:solidFill>
          <a:ln/>
        </p:spPr>
      </p:sp>
      <p:sp>
        <p:nvSpPr>
          <p:cNvPr id="18" name="Text 16"/>
          <p:cNvSpPr/>
          <p:nvPr/>
        </p:nvSpPr>
        <p:spPr>
          <a:xfrm>
            <a:off x="8430768"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9006840" y="1938528"/>
            <a:ext cx="2377440" cy="384048"/>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Pokémon</a:t>
            </a:r>
            <a:endParaRPr lang="en-US" sz="2100" dirty="0"/>
          </a:p>
        </p:txBody>
      </p:sp>
      <p:sp>
        <p:nvSpPr>
          <p:cNvPr id="20" name="Text 18"/>
          <p:cNvSpPr/>
          <p:nvPr/>
        </p:nvSpPr>
        <p:spPr>
          <a:xfrm>
            <a:off x="8430768" y="2432304"/>
            <a:ext cx="2834640" cy="320040"/>
          </a:xfrm>
          <a:prstGeom prst="rect">
            <a:avLst/>
          </a:prstGeom>
          <a:noFill/>
          <a:ln/>
        </p:spPr>
        <p:txBody>
          <a:bodyPr wrap="square" lIns="0" tIns="0" rIns="0" bIns="0" rtlCol="0" anchor="ctr"/>
          <a:lstStyle/>
          <a:p>
            <a:pPr indent="0" marL="0">
              <a:buNone/>
            </a:pPr>
            <a:r>
              <a:rPr lang="en-US" sz="1400" i="1" dirty="0">
                <a:solidFill>
                  <a:srgbClr val="B42318"/>
                </a:solidFill>
                <a:latin typeface="Calibri" pitchFamily="34" charset="0"/>
                <a:ea typeface="Calibri" pitchFamily="34" charset="-122"/>
                <a:cs typeface="Calibri" pitchFamily="34" charset="-120"/>
              </a:rPr>
              <a:t>the student</a:t>
            </a:r>
            <a:endParaRPr lang="en-US" sz="1400" dirty="0"/>
          </a:p>
        </p:txBody>
      </p:sp>
      <p:sp>
        <p:nvSpPr>
          <p:cNvPr id="21" name="Text 19"/>
          <p:cNvSpPr/>
          <p:nvPr/>
        </p:nvSpPr>
        <p:spPr>
          <a:xfrm>
            <a:off x="8430768" y="2816352"/>
            <a:ext cx="2834640" cy="1097280"/>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Carries notes, status flags, and progress toward a milestone.</a:t>
            </a:r>
            <a:endParaRPr lang="en-US" sz="1300" dirty="0"/>
          </a:p>
        </p:txBody>
      </p:sp>
      <p:sp>
        <p:nvSpPr>
          <p:cNvPr id="22" name="Shape 20"/>
          <p:cNvSpPr/>
          <p:nvPr/>
        </p:nvSpPr>
        <p:spPr>
          <a:xfrm>
            <a:off x="548640" y="4572000"/>
            <a:ext cx="11064240" cy="1417320"/>
          </a:xfrm>
          <a:prstGeom prst="roundRect">
            <a:avLst>
              <a:gd name="adj" fmla="val 6452"/>
            </a:avLst>
          </a:prstGeom>
          <a:solidFill>
            <a:srgbClr val="FDF0EF"/>
          </a:solidFill>
          <a:ln/>
        </p:spPr>
      </p:sp>
      <p:sp>
        <p:nvSpPr>
          <p:cNvPr id="23" name="Text 21"/>
          <p:cNvSpPr/>
          <p:nvPr/>
        </p:nvSpPr>
        <p:spPr>
          <a:xfrm>
            <a:off x="914400" y="4846320"/>
            <a:ext cx="10332720" cy="9144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Evolution chains are the degree plan. A chain is a programme of study: stage N of L is progress, and the level requirement for the next stage is a milestone somebody has to sign off.</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Home — what needs you today</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The landing page opens on the workspace-wide early-alert queue.</a:t>
            </a:r>
            <a:endParaRPr lang="en-US" sz="1400" dirty="0"/>
          </a:p>
        </p:txBody>
      </p:sp>
      <p:pic>
        <p:nvPicPr>
          <p:cNvPr id="4" name="Image 0" descr="preencoded.png">    </p:cNvPr>
          <p:cNvPicPr>
            <a:picLocks noChangeAspect="1"/>
          </p:cNvPicPr>
          <p:nvPr/>
        </p:nvPicPr>
        <p:blipFill>
          <a:blip r:embed="rId1"/>
          <a:stretch>
            <a:fillRect/>
          </a:stretch>
        </p:blipFill>
        <p:spPr>
          <a:xfrm>
            <a:off x="957507" y="1463040"/>
            <a:ext cx="6771785" cy="4937760"/>
          </a:xfrm>
          <a:prstGeom prst="rect">
            <a:avLst/>
          </a:prstGeom>
          <a:effectLst>
            <a:outerShdw sx="100000" sy="100000" kx="0" ky="0" algn="bl" rotWithShape="0" blurRad="177800" dist="38100" dir="5400000">
              <a:srgbClr val="000000">
                <a:alpha val="18000"/>
              </a:srgbClr>
            </a:outerShdw>
          </a:effectLst>
        </p:spPr>
      </p:pic>
      <p:sp>
        <p:nvSpPr>
          <p:cNvPr id="5" name="Shape 2"/>
          <p:cNvSpPr/>
          <p:nvPr/>
        </p:nvSpPr>
        <p:spPr>
          <a:xfrm>
            <a:off x="8458200" y="1600200"/>
            <a:ext cx="347472" cy="347472"/>
          </a:xfrm>
          <a:prstGeom prst="ellipse">
            <a:avLst/>
          </a:prstGeom>
          <a:solidFill>
            <a:srgbClr val="D92D20"/>
          </a:solidFill>
          <a:ln/>
        </p:spPr>
      </p:sp>
      <p:sp>
        <p:nvSpPr>
          <p:cNvPr id="6" name="Text 3"/>
          <p:cNvSpPr/>
          <p:nvPr/>
        </p:nvSpPr>
        <p:spPr>
          <a:xfrm>
            <a:off x="8458200" y="1600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8942832" y="15636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Ranked, not listed</a:t>
            </a:r>
            <a:endParaRPr lang="en-US" sz="1500" dirty="0"/>
          </a:p>
        </p:txBody>
      </p:sp>
      <p:sp>
        <p:nvSpPr>
          <p:cNvPr id="8" name="Text 5"/>
          <p:cNvSpPr/>
          <p:nvPr/>
        </p:nvSpPr>
        <p:spPr>
          <a:xfrm>
            <a:off x="8458200" y="18928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Every active roster member is scored; only those with an open signal appear.</a:t>
            </a:r>
            <a:endParaRPr lang="en-US" sz="1250" dirty="0"/>
          </a:p>
        </p:txBody>
      </p:sp>
      <p:sp>
        <p:nvSpPr>
          <p:cNvPr id="9" name="Shape 6"/>
          <p:cNvSpPr/>
          <p:nvPr/>
        </p:nvSpPr>
        <p:spPr>
          <a:xfrm>
            <a:off x="8458200" y="3200400"/>
            <a:ext cx="347472" cy="347472"/>
          </a:xfrm>
          <a:prstGeom prst="ellipse">
            <a:avLst/>
          </a:prstGeom>
          <a:solidFill>
            <a:srgbClr val="D92D20"/>
          </a:solidFill>
          <a:ln/>
        </p:spPr>
      </p:sp>
      <p:sp>
        <p:nvSpPr>
          <p:cNvPr id="10" name="Text 7"/>
          <p:cNvSpPr/>
          <p:nvPr/>
        </p:nvSpPr>
        <p:spPr>
          <a:xfrm>
            <a:off x="8458200" y="32004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8942832" y="31638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Explains itself</a:t>
            </a:r>
            <a:endParaRPr lang="en-US" sz="1500" dirty="0"/>
          </a:p>
        </p:txBody>
      </p:sp>
      <p:sp>
        <p:nvSpPr>
          <p:cNvPr id="12" name="Text 9"/>
          <p:cNvSpPr/>
          <p:nvPr/>
        </p:nvSpPr>
        <p:spPr>
          <a:xfrm>
            <a:off x="8458200" y="34930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Each row carries its reasons — a score with no explanation is not actionable.</a:t>
            </a:r>
            <a:endParaRPr lang="en-US" sz="1250" dirty="0"/>
          </a:p>
        </p:txBody>
      </p:sp>
      <p:sp>
        <p:nvSpPr>
          <p:cNvPr id="13" name="Shape 10"/>
          <p:cNvSpPr/>
          <p:nvPr/>
        </p:nvSpPr>
        <p:spPr>
          <a:xfrm>
            <a:off x="8458200" y="4800600"/>
            <a:ext cx="347472" cy="347472"/>
          </a:xfrm>
          <a:prstGeom prst="ellipse">
            <a:avLst/>
          </a:prstGeom>
          <a:solidFill>
            <a:srgbClr val="D92D20"/>
          </a:solidFill>
          <a:ln/>
        </p:spPr>
      </p:sp>
      <p:sp>
        <p:nvSpPr>
          <p:cNvPr id="14" name="Text 11"/>
          <p:cNvSpPr/>
          <p:nvPr/>
        </p:nvSpPr>
        <p:spPr>
          <a:xfrm>
            <a:off x="8458200" y="4800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8942832" y="47640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Live counters</a:t>
            </a:r>
            <a:endParaRPr lang="en-US" sz="1500" dirty="0"/>
          </a:p>
        </p:txBody>
      </p:sp>
      <p:sp>
        <p:nvSpPr>
          <p:cNvPr id="16" name="Text 13"/>
          <p:cNvSpPr/>
          <p:nvPr/>
        </p:nvSpPr>
        <p:spPr>
          <a:xfrm>
            <a:off x="8458200" y="50932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Seeded Pokémon, notes written, flags set, records tracked.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signals, one scorer</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SQL gathers the facts; TypeScript applies the weights, so the score and the reasons never drift apart.</a:t>
            </a:r>
            <a:endParaRPr lang="en-US" sz="1400" dirty="0"/>
          </a:p>
        </p:txBody>
      </p:sp>
      <p:sp>
        <p:nvSpPr>
          <p:cNvPr id="4" name="Shape 2"/>
          <p:cNvSpPr/>
          <p:nvPr/>
        </p:nvSpPr>
        <p:spPr>
          <a:xfrm>
            <a:off x="548640" y="1691640"/>
            <a:ext cx="7040880" cy="621792"/>
          </a:xfrm>
          <a:prstGeom prst="roundRect">
            <a:avLst>
              <a:gd name="adj" fmla="val 11765"/>
            </a:avLst>
          </a:prstGeom>
          <a:solidFill>
            <a:srgbClr val="F4F4F2"/>
          </a:solidFill>
          <a:ln w="12700">
            <a:solidFill>
              <a:srgbClr val="E1E0D9"/>
            </a:solidFill>
            <a:prstDash val="solid"/>
          </a:ln>
        </p:spPr>
      </p:sp>
      <p:sp>
        <p:nvSpPr>
          <p:cNvPr id="5" name="Text 3"/>
          <p:cNvSpPr/>
          <p:nvPr/>
        </p:nvSpPr>
        <p:spPr>
          <a:xfrm>
            <a:off x="777240" y="1728216"/>
            <a:ext cx="2468880" cy="27432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Never reviewed</a:t>
            </a:r>
            <a:endParaRPr lang="en-US" sz="1400" dirty="0"/>
          </a:p>
        </p:txBody>
      </p:sp>
      <p:sp>
        <p:nvSpPr>
          <p:cNvPr id="6" name="Text 4"/>
          <p:cNvSpPr/>
          <p:nvPr/>
        </p:nvSpPr>
        <p:spPr>
          <a:xfrm>
            <a:off x="777240" y="2002536"/>
            <a:ext cx="4754880" cy="256032"/>
          </a:xfrm>
          <a:prstGeom prst="rect">
            <a:avLst/>
          </a:prstGeom>
          <a:noFill/>
          <a:ln/>
        </p:spPr>
        <p:txBody>
          <a:bodyPr wrap="square" lIns="0" tIns="0" rIns="0" bIns="0" rtlCol="0" anchor="ctr"/>
          <a:lstStyle/>
          <a:p>
            <a:pPr indent="0" marL="0">
              <a:buNone/>
            </a:pPr>
            <a:r>
              <a:rPr lang="en-US" sz="1150" dirty="0">
                <a:solidFill>
                  <a:srgbClr val="898781"/>
                </a:solidFill>
                <a:latin typeface="Calibri" pitchFamily="34" charset="0"/>
                <a:ea typeface="Calibri" pitchFamily="34" charset="-122"/>
                <a:cs typeface="Calibri" pitchFamily="34" charset="-120"/>
              </a:rPr>
              <a:t>No review has ever been recorded</a:t>
            </a:r>
            <a:endParaRPr lang="en-US" sz="1150" dirty="0"/>
          </a:p>
        </p:txBody>
      </p:sp>
      <p:sp>
        <p:nvSpPr>
          <p:cNvPr id="7" name="Text 5"/>
          <p:cNvSpPr/>
          <p:nvPr/>
        </p:nvSpPr>
        <p:spPr>
          <a:xfrm>
            <a:off x="6309360" y="1837944"/>
            <a:ext cx="1097280" cy="329184"/>
          </a:xfrm>
          <a:prstGeom prst="rect">
            <a:avLst/>
          </a:prstGeom>
          <a:noFill/>
          <a:ln/>
        </p:spPr>
        <p:txBody>
          <a:bodyPr wrap="square" lIns="0" tIns="0" rIns="0" bIns="0" rtlCol="0" anchor="ctr"/>
          <a:lstStyle/>
          <a:p>
            <a:pPr algn="r" indent="0" marL="0">
              <a:buNone/>
            </a:pPr>
            <a:r>
              <a:rPr lang="en-US" sz="1400" b="1" dirty="0">
                <a:solidFill>
                  <a:srgbClr val="D92D20"/>
                </a:solidFill>
                <a:latin typeface="Calibri" pitchFamily="34" charset="0"/>
                <a:ea typeface="Calibri" pitchFamily="34" charset="-122"/>
                <a:cs typeface="Calibri" pitchFamily="34" charset="-120"/>
              </a:rPr>
              <a:t>40</a:t>
            </a:r>
            <a:endParaRPr lang="en-US" sz="1400" dirty="0"/>
          </a:p>
        </p:txBody>
      </p:sp>
      <p:sp>
        <p:nvSpPr>
          <p:cNvPr id="8" name="Shape 6"/>
          <p:cNvSpPr/>
          <p:nvPr/>
        </p:nvSpPr>
        <p:spPr>
          <a:xfrm>
            <a:off x="548640" y="2441448"/>
            <a:ext cx="7040880" cy="621792"/>
          </a:xfrm>
          <a:prstGeom prst="roundRect">
            <a:avLst>
              <a:gd name="adj" fmla="val 11765"/>
            </a:avLst>
          </a:prstGeom>
          <a:solidFill>
            <a:srgbClr val="FFFFFF"/>
          </a:solidFill>
          <a:ln w="12700">
            <a:solidFill>
              <a:srgbClr val="E1E0D9"/>
            </a:solidFill>
            <a:prstDash val="solid"/>
          </a:ln>
        </p:spPr>
      </p:sp>
      <p:sp>
        <p:nvSpPr>
          <p:cNvPr id="9" name="Text 7"/>
          <p:cNvSpPr/>
          <p:nvPr/>
        </p:nvSpPr>
        <p:spPr>
          <a:xfrm>
            <a:off x="777240" y="2478024"/>
            <a:ext cx="2468880" cy="27432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Stale review</a:t>
            </a:r>
            <a:endParaRPr lang="en-US" sz="1400" dirty="0"/>
          </a:p>
        </p:txBody>
      </p:sp>
      <p:sp>
        <p:nvSpPr>
          <p:cNvPr id="10" name="Text 8"/>
          <p:cNvSpPr/>
          <p:nvPr/>
        </p:nvSpPr>
        <p:spPr>
          <a:xfrm>
            <a:off x="777240" y="2752344"/>
            <a:ext cx="4754880" cy="256032"/>
          </a:xfrm>
          <a:prstGeom prst="rect">
            <a:avLst/>
          </a:prstGeom>
          <a:noFill/>
          <a:ln/>
        </p:spPr>
        <p:txBody>
          <a:bodyPr wrap="square" lIns="0" tIns="0" rIns="0" bIns="0" rtlCol="0" anchor="ctr"/>
          <a:lstStyle/>
          <a:p>
            <a:pPr indent="0" marL="0">
              <a:buNone/>
            </a:pPr>
            <a:r>
              <a:rPr lang="en-US" sz="1150" dirty="0">
                <a:solidFill>
                  <a:srgbClr val="898781"/>
                </a:solidFill>
                <a:latin typeface="Calibri" pitchFamily="34" charset="0"/>
                <a:ea typeface="Calibri" pitchFamily="34" charset="-122"/>
                <a:cs typeface="Calibri" pitchFamily="34" charset="-120"/>
              </a:rPr>
              <a:t>Past the 30-day contact window</a:t>
            </a:r>
            <a:endParaRPr lang="en-US" sz="1150" dirty="0"/>
          </a:p>
        </p:txBody>
      </p:sp>
      <p:sp>
        <p:nvSpPr>
          <p:cNvPr id="11" name="Text 9"/>
          <p:cNvSpPr/>
          <p:nvPr/>
        </p:nvSpPr>
        <p:spPr>
          <a:xfrm>
            <a:off x="6309360" y="2587752"/>
            <a:ext cx="1097280" cy="329184"/>
          </a:xfrm>
          <a:prstGeom prst="rect">
            <a:avLst/>
          </a:prstGeom>
          <a:noFill/>
          <a:ln/>
        </p:spPr>
        <p:txBody>
          <a:bodyPr wrap="square" lIns="0" tIns="0" rIns="0" bIns="0" rtlCol="0" anchor="ctr"/>
          <a:lstStyle/>
          <a:p>
            <a:pPr algn="r" indent="0" marL="0">
              <a:buNone/>
            </a:pPr>
            <a:r>
              <a:rPr lang="en-US" sz="1400" b="1" dirty="0">
                <a:solidFill>
                  <a:srgbClr val="D92D20"/>
                </a:solidFill>
                <a:latin typeface="Calibri" pitchFamily="34" charset="0"/>
                <a:ea typeface="Calibri" pitchFamily="34" charset="-122"/>
                <a:cs typeface="Calibri" pitchFamily="34" charset="-120"/>
              </a:rPr>
              <a:t>up to 45</a:t>
            </a:r>
            <a:endParaRPr lang="en-US" sz="1400" dirty="0"/>
          </a:p>
        </p:txBody>
      </p:sp>
      <p:sp>
        <p:nvSpPr>
          <p:cNvPr id="12" name="Shape 10"/>
          <p:cNvSpPr/>
          <p:nvPr/>
        </p:nvSpPr>
        <p:spPr>
          <a:xfrm>
            <a:off x="548640" y="3191256"/>
            <a:ext cx="7040880" cy="621792"/>
          </a:xfrm>
          <a:prstGeom prst="roundRect">
            <a:avLst>
              <a:gd name="adj" fmla="val 11765"/>
            </a:avLst>
          </a:prstGeom>
          <a:solidFill>
            <a:srgbClr val="F4F4F2"/>
          </a:solidFill>
          <a:ln w="12700">
            <a:solidFill>
              <a:srgbClr val="E1E0D9"/>
            </a:solidFill>
            <a:prstDash val="solid"/>
          </a:ln>
        </p:spPr>
      </p:sp>
      <p:sp>
        <p:nvSpPr>
          <p:cNvPr id="13" name="Text 11"/>
          <p:cNvSpPr/>
          <p:nvPr/>
        </p:nvSpPr>
        <p:spPr>
          <a:xfrm>
            <a:off x="777240" y="3227832"/>
            <a:ext cx="2468880" cy="27432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Flagged</a:t>
            </a:r>
            <a:endParaRPr lang="en-US" sz="1400" dirty="0"/>
          </a:p>
        </p:txBody>
      </p:sp>
      <p:sp>
        <p:nvSpPr>
          <p:cNvPr id="14" name="Text 12"/>
          <p:cNvSpPr/>
          <p:nvPr/>
        </p:nvSpPr>
        <p:spPr>
          <a:xfrm>
            <a:off x="777240" y="3502152"/>
            <a:ext cx="4754880" cy="256032"/>
          </a:xfrm>
          <a:prstGeom prst="rect">
            <a:avLst/>
          </a:prstGeom>
          <a:noFill/>
          <a:ln/>
        </p:spPr>
        <p:txBody>
          <a:bodyPr wrap="square" lIns="0" tIns="0" rIns="0" bIns="0" rtlCol="0" anchor="ctr"/>
          <a:lstStyle/>
          <a:p>
            <a:pPr indent="0" marL="0">
              <a:buNone/>
            </a:pPr>
            <a:r>
              <a:rPr lang="en-US" sz="1150" dirty="0">
                <a:solidFill>
                  <a:srgbClr val="898781"/>
                </a:solidFill>
                <a:latin typeface="Calibri" pitchFamily="34" charset="0"/>
                <a:ea typeface="Calibri" pitchFamily="34" charset="-122"/>
                <a:cs typeface="Calibri" pitchFamily="34" charset="-120"/>
              </a:rPr>
              <a:t>Someone already raised a concern</a:t>
            </a:r>
            <a:endParaRPr lang="en-US" sz="1150" dirty="0"/>
          </a:p>
        </p:txBody>
      </p:sp>
      <p:sp>
        <p:nvSpPr>
          <p:cNvPr id="15" name="Text 13"/>
          <p:cNvSpPr/>
          <p:nvPr/>
        </p:nvSpPr>
        <p:spPr>
          <a:xfrm>
            <a:off x="6309360" y="3337560"/>
            <a:ext cx="1097280" cy="329184"/>
          </a:xfrm>
          <a:prstGeom prst="rect">
            <a:avLst/>
          </a:prstGeom>
          <a:noFill/>
          <a:ln/>
        </p:spPr>
        <p:txBody>
          <a:bodyPr wrap="square" lIns="0" tIns="0" rIns="0" bIns="0" rtlCol="0" anchor="ctr"/>
          <a:lstStyle/>
          <a:p>
            <a:pPr algn="r" indent="0" marL="0">
              <a:buNone/>
            </a:pPr>
            <a:r>
              <a:rPr lang="en-US" sz="1400" b="1" dirty="0">
                <a:solidFill>
                  <a:srgbClr val="D92D20"/>
                </a:solidFill>
                <a:latin typeface="Calibri" pitchFamily="34" charset="0"/>
                <a:ea typeface="Calibri" pitchFamily="34" charset="-122"/>
                <a:cs typeface="Calibri" pitchFamily="34" charset="-120"/>
              </a:rPr>
              <a:t>35</a:t>
            </a:r>
            <a:endParaRPr lang="en-US" sz="1400" dirty="0"/>
          </a:p>
        </p:txBody>
      </p:sp>
      <p:sp>
        <p:nvSpPr>
          <p:cNvPr id="16" name="Shape 14"/>
          <p:cNvSpPr/>
          <p:nvPr/>
        </p:nvSpPr>
        <p:spPr>
          <a:xfrm>
            <a:off x="548640" y="3941064"/>
            <a:ext cx="7040880" cy="621792"/>
          </a:xfrm>
          <a:prstGeom prst="roundRect">
            <a:avLst>
              <a:gd name="adj" fmla="val 11765"/>
            </a:avLst>
          </a:prstGeom>
          <a:solidFill>
            <a:srgbClr val="FFFFFF"/>
          </a:solidFill>
          <a:ln w="12700">
            <a:solidFill>
              <a:srgbClr val="E1E0D9"/>
            </a:solidFill>
            <a:prstDash val="solid"/>
          </a:ln>
        </p:spPr>
      </p:sp>
      <p:sp>
        <p:nvSpPr>
          <p:cNvPr id="17" name="Text 15"/>
          <p:cNvSpPr/>
          <p:nvPr/>
        </p:nvSpPr>
        <p:spPr>
          <a:xfrm>
            <a:off x="777240" y="3977640"/>
            <a:ext cx="2468880" cy="27432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Milestone overdue</a:t>
            </a:r>
            <a:endParaRPr lang="en-US" sz="1400" dirty="0"/>
          </a:p>
        </p:txBody>
      </p:sp>
      <p:sp>
        <p:nvSpPr>
          <p:cNvPr id="18" name="Text 16"/>
          <p:cNvSpPr/>
          <p:nvPr/>
        </p:nvSpPr>
        <p:spPr>
          <a:xfrm>
            <a:off x="777240" y="4251960"/>
            <a:ext cx="4754880" cy="256032"/>
          </a:xfrm>
          <a:prstGeom prst="rect">
            <a:avLst/>
          </a:prstGeom>
          <a:noFill/>
          <a:ln/>
        </p:spPr>
        <p:txBody>
          <a:bodyPr wrap="square" lIns="0" tIns="0" rIns="0" bIns="0" rtlCol="0" anchor="ctr"/>
          <a:lstStyle/>
          <a:p>
            <a:pPr indent="0" marL="0">
              <a:buNone/>
            </a:pPr>
            <a:r>
              <a:rPr lang="en-US" sz="1150" dirty="0">
                <a:solidFill>
                  <a:srgbClr val="898781"/>
                </a:solidFill>
                <a:latin typeface="Calibri" pitchFamily="34" charset="0"/>
                <a:ea typeface="Calibri" pitchFamily="34" charset="-122"/>
                <a:cs typeface="Calibri" pitchFamily="34" charset="-120"/>
              </a:rPr>
              <a:t>Met its evolution requirement, not signed off</a:t>
            </a:r>
            <a:endParaRPr lang="en-US" sz="1150" dirty="0"/>
          </a:p>
        </p:txBody>
      </p:sp>
      <p:sp>
        <p:nvSpPr>
          <p:cNvPr id="19" name="Text 17"/>
          <p:cNvSpPr/>
          <p:nvPr/>
        </p:nvSpPr>
        <p:spPr>
          <a:xfrm>
            <a:off x="6309360" y="4087368"/>
            <a:ext cx="1097280" cy="329184"/>
          </a:xfrm>
          <a:prstGeom prst="rect">
            <a:avLst/>
          </a:prstGeom>
          <a:noFill/>
          <a:ln/>
        </p:spPr>
        <p:txBody>
          <a:bodyPr wrap="square" lIns="0" tIns="0" rIns="0" bIns="0" rtlCol="0" anchor="ctr"/>
          <a:lstStyle/>
          <a:p>
            <a:pPr algn="r" indent="0" marL="0">
              <a:buNone/>
            </a:pPr>
            <a:r>
              <a:rPr lang="en-US" sz="1400" b="1" dirty="0">
                <a:solidFill>
                  <a:srgbClr val="D92D20"/>
                </a:solidFill>
                <a:latin typeface="Calibri" pitchFamily="34" charset="0"/>
                <a:ea typeface="Calibri" pitchFamily="34" charset="-122"/>
                <a:cs typeface="Calibri" pitchFamily="34" charset="-120"/>
              </a:rPr>
              <a:t>30</a:t>
            </a:r>
            <a:endParaRPr lang="en-US" sz="1400" dirty="0"/>
          </a:p>
        </p:txBody>
      </p:sp>
      <p:sp>
        <p:nvSpPr>
          <p:cNvPr id="20" name="Shape 18"/>
          <p:cNvSpPr/>
          <p:nvPr/>
        </p:nvSpPr>
        <p:spPr>
          <a:xfrm>
            <a:off x="548640" y="4690872"/>
            <a:ext cx="7040880" cy="621792"/>
          </a:xfrm>
          <a:prstGeom prst="roundRect">
            <a:avLst>
              <a:gd name="adj" fmla="val 11765"/>
            </a:avLst>
          </a:prstGeom>
          <a:solidFill>
            <a:srgbClr val="F4F4F2"/>
          </a:solidFill>
          <a:ln w="12700">
            <a:solidFill>
              <a:srgbClr val="E1E0D9"/>
            </a:solidFill>
            <a:prstDash val="solid"/>
          </a:ln>
        </p:spPr>
      </p:sp>
      <p:sp>
        <p:nvSpPr>
          <p:cNvPr id="21" name="Text 19"/>
          <p:cNvSpPr/>
          <p:nvPr/>
        </p:nvSpPr>
        <p:spPr>
          <a:xfrm>
            <a:off x="777240" y="4727448"/>
            <a:ext cx="2468880" cy="27432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Behind pace</a:t>
            </a:r>
            <a:endParaRPr lang="en-US" sz="1400" dirty="0"/>
          </a:p>
        </p:txBody>
      </p:sp>
      <p:sp>
        <p:nvSpPr>
          <p:cNvPr id="22" name="Text 20"/>
          <p:cNvSpPr/>
          <p:nvPr/>
        </p:nvSpPr>
        <p:spPr>
          <a:xfrm>
            <a:off x="777240" y="5001768"/>
            <a:ext cx="4754880" cy="256032"/>
          </a:xfrm>
          <a:prstGeom prst="rect">
            <a:avLst/>
          </a:prstGeom>
          <a:noFill/>
          <a:ln/>
        </p:spPr>
        <p:txBody>
          <a:bodyPr wrap="square" lIns="0" tIns="0" rIns="0" bIns="0" rtlCol="0" anchor="ctr"/>
          <a:lstStyle/>
          <a:p>
            <a:pPr indent="0" marL="0">
              <a:buNone/>
            </a:pPr>
            <a:r>
              <a:rPr lang="en-US" sz="1150" dirty="0">
                <a:solidFill>
                  <a:srgbClr val="898781"/>
                </a:solidFill>
                <a:latin typeface="Calibri" pitchFamily="34" charset="0"/>
                <a:ea typeface="Calibri" pitchFamily="34" charset="-122"/>
                <a:cs typeface="Calibri" pitchFamily="34" charset="-120"/>
              </a:rPr>
              <a:t>Below the level its growth curve implies</a:t>
            </a:r>
            <a:endParaRPr lang="en-US" sz="1150" dirty="0"/>
          </a:p>
        </p:txBody>
      </p:sp>
      <p:sp>
        <p:nvSpPr>
          <p:cNvPr id="23" name="Text 21"/>
          <p:cNvSpPr/>
          <p:nvPr/>
        </p:nvSpPr>
        <p:spPr>
          <a:xfrm>
            <a:off x="6309360" y="4837176"/>
            <a:ext cx="1097280" cy="329184"/>
          </a:xfrm>
          <a:prstGeom prst="rect">
            <a:avLst/>
          </a:prstGeom>
          <a:noFill/>
          <a:ln/>
        </p:spPr>
        <p:txBody>
          <a:bodyPr wrap="square" lIns="0" tIns="0" rIns="0" bIns="0" rtlCol="0" anchor="ctr"/>
          <a:lstStyle/>
          <a:p>
            <a:pPr algn="r" indent="0" marL="0">
              <a:buNone/>
            </a:pPr>
            <a:r>
              <a:rPr lang="en-US" sz="1400" b="1" dirty="0">
                <a:solidFill>
                  <a:srgbClr val="D92D20"/>
                </a:solidFill>
                <a:latin typeface="Calibri" pitchFamily="34" charset="0"/>
                <a:ea typeface="Calibri" pitchFamily="34" charset="-122"/>
                <a:cs typeface="Calibri" pitchFamily="34" charset="-120"/>
              </a:rPr>
              <a:t>up to 30</a:t>
            </a:r>
            <a:endParaRPr lang="en-US" sz="1400" dirty="0"/>
          </a:p>
        </p:txBody>
      </p:sp>
      <p:pic>
        <p:nvPicPr>
          <p:cNvPr id="24" name="Image 0" descr="preencoded.png">    </p:cNvPr>
          <p:cNvPicPr>
            <a:picLocks noChangeAspect="1"/>
          </p:cNvPicPr>
          <p:nvPr/>
        </p:nvPicPr>
        <p:blipFill>
          <a:blip r:embed="rId1"/>
          <a:stretch>
            <a:fillRect/>
          </a:stretch>
        </p:blipFill>
        <p:spPr>
          <a:xfrm>
            <a:off x="8001000" y="1798572"/>
            <a:ext cx="3703320" cy="2483616"/>
          </a:xfrm>
          <a:prstGeom prst="rect">
            <a:avLst/>
          </a:prstGeom>
          <a:effectLst>
            <a:outerShdw sx="100000" sy="100000" kx="0" ky="0" algn="bl" rotWithShape="0" blurRad="177800" dist="38100" dir="5400000">
              <a:srgbClr val="000000">
                <a:alpha val="18000"/>
              </a:srgbClr>
            </a:outerShdw>
          </a:effectLst>
        </p:spPr>
      </p:pic>
      <p:sp>
        <p:nvSpPr>
          <p:cNvPr id="25" name="Shape 22"/>
          <p:cNvSpPr/>
          <p:nvPr/>
        </p:nvSpPr>
        <p:spPr>
          <a:xfrm>
            <a:off x="8001000" y="4617720"/>
            <a:ext cx="3703320" cy="1737360"/>
          </a:xfrm>
          <a:prstGeom prst="roundRect">
            <a:avLst>
              <a:gd name="adj" fmla="val 5263"/>
            </a:avLst>
          </a:prstGeom>
          <a:solidFill>
            <a:srgbClr val="FDF0EF"/>
          </a:solidFill>
          <a:ln/>
        </p:spPr>
      </p:sp>
      <p:sp>
        <p:nvSpPr>
          <p:cNvPr id="26" name="Text 23"/>
          <p:cNvSpPr/>
          <p:nvPr/>
        </p:nvSpPr>
        <p:spPr>
          <a:xfrm>
            <a:off x="8229600" y="4773168"/>
            <a:ext cx="3291840" cy="292608"/>
          </a:xfrm>
          <a:prstGeom prst="rect">
            <a:avLst/>
          </a:prstGeom>
          <a:noFill/>
          <a:ln/>
        </p:spPr>
        <p:txBody>
          <a:bodyPr wrap="square" lIns="0" tIns="0" rIns="0" bIns="0" rtlCol="0" anchor="ctr"/>
          <a:lstStyle/>
          <a:p>
            <a:pPr indent="0" marL="0">
              <a:buNone/>
            </a:pPr>
            <a:r>
              <a:rPr lang="en-US" sz="1300" b="1" dirty="0">
                <a:solidFill>
                  <a:srgbClr val="B42318"/>
                </a:solidFill>
                <a:latin typeface="Calibri" pitchFamily="34" charset="0"/>
                <a:ea typeface="Calibri" pitchFamily="34" charset="-122"/>
                <a:cs typeface="Calibri" pitchFamily="34" charset="-120"/>
              </a:rPr>
              <a:t>“Behind pace” is real maths</a:t>
            </a:r>
            <a:endParaRPr lang="en-US" sz="1300" dirty="0"/>
          </a:p>
        </p:txBody>
      </p:sp>
      <p:sp>
        <p:nvSpPr>
          <p:cNvPr id="27" name="Text 24"/>
          <p:cNvSpPr/>
          <p:nvPr/>
        </p:nvSpPr>
        <p:spPr>
          <a:xfrm>
            <a:off x="8229600" y="5084064"/>
            <a:ext cx="3291840" cy="1188720"/>
          </a:xfrm>
          <a:prstGeom prst="rect">
            <a:avLst/>
          </a:prstGeom>
          <a:noFill/>
          <a:ln/>
        </p:spPr>
        <p:txBody>
          <a:bodyPr wrap="square" lIns="0" tIns="0" rIns="0" bIns="0" rtlCol="0" anchor="ctr"/>
          <a:lstStyle/>
          <a:p>
            <a:pPr indent="0" marL="0">
              <a:buNone/>
            </a:pPr>
            <a:r>
              <a:rPr lang="en-US" sz="1050" dirty="0">
                <a:solidFill>
                  <a:srgbClr val="52514E"/>
                </a:solidFill>
                <a:latin typeface="Calibri" pitchFamily="34" charset="0"/>
                <a:ea typeface="Calibri" pitchFamily="34" charset="-122"/>
                <a:cs typeface="Calibri" pitchFamily="34" charset="-120"/>
              </a:rPr>
              <a:t>Each species' true EXP curve is seeded from PokeAPI. Time on roster × an assumed training rate gives an expected level — and the app says so, rather than passing the assumption off as measurement.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Trainers — the caseload view</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Search or pick a trainer, then work their roster.</a:t>
            </a:r>
            <a:endParaRPr lang="en-US" sz="1400" dirty="0"/>
          </a:p>
        </p:txBody>
      </p:sp>
      <p:pic>
        <p:nvPicPr>
          <p:cNvPr id="4" name="Image 0" descr="preencoded.png">    </p:cNvPr>
          <p:cNvPicPr>
            <a:picLocks noChangeAspect="1"/>
          </p:cNvPicPr>
          <p:nvPr/>
        </p:nvPicPr>
        <p:blipFill>
          <a:blip r:embed="rId1"/>
          <a:stretch>
            <a:fillRect/>
          </a:stretch>
        </p:blipFill>
        <p:spPr>
          <a:xfrm>
            <a:off x="957507" y="1463040"/>
            <a:ext cx="6771785" cy="4937760"/>
          </a:xfrm>
          <a:prstGeom prst="rect">
            <a:avLst/>
          </a:prstGeom>
          <a:effectLst>
            <a:outerShdw sx="100000" sy="100000" kx="0" ky="0" algn="bl" rotWithShape="0" blurRad="177800" dist="38100" dir="5400000">
              <a:srgbClr val="000000">
                <a:alpha val="18000"/>
              </a:srgbClr>
            </a:outerShdw>
          </a:effectLst>
        </p:spPr>
      </p:pic>
      <p:sp>
        <p:nvSpPr>
          <p:cNvPr id="5" name="Shape 2"/>
          <p:cNvSpPr/>
          <p:nvPr/>
        </p:nvSpPr>
        <p:spPr>
          <a:xfrm>
            <a:off x="8458200" y="1600200"/>
            <a:ext cx="347472" cy="347472"/>
          </a:xfrm>
          <a:prstGeom prst="ellipse">
            <a:avLst/>
          </a:prstGeom>
          <a:solidFill>
            <a:srgbClr val="D92D20"/>
          </a:solidFill>
          <a:ln/>
        </p:spPr>
      </p:sp>
      <p:sp>
        <p:nvSpPr>
          <p:cNvPr id="6" name="Text 3"/>
          <p:cNvSpPr/>
          <p:nvPr/>
        </p:nvSpPr>
        <p:spPr>
          <a:xfrm>
            <a:off x="8458200" y="1600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8942832" y="15636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Stats that agree</a:t>
            </a:r>
            <a:endParaRPr lang="en-US" sz="1500" dirty="0"/>
          </a:p>
        </p:txBody>
      </p:sp>
      <p:sp>
        <p:nvSpPr>
          <p:cNvPr id="8" name="Text 5"/>
          <p:cNvSpPr/>
          <p:nvPr/>
        </p:nvSpPr>
        <p:spPr>
          <a:xfrm>
            <a:off x="8458200" y="1892808"/>
            <a:ext cx="3291840" cy="10515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Roster size counts everyone; every quality metric is computed over the active roster and labelled as such.</a:t>
            </a:r>
            <a:endParaRPr lang="en-US" sz="1250" dirty="0"/>
          </a:p>
        </p:txBody>
      </p:sp>
      <p:sp>
        <p:nvSpPr>
          <p:cNvPr id="9" name="Shape 6"/>
          <p:cNvSpPr/>
          <p:nvPr/>
        </p:nvSpPr>
        <p:spPr>
          <a:xfrm>
            <a:off x="8458200" y="3200400"/>
            <a:ext cx="347472" cy="347472"/>
          </a:xfrm>
          <a:prstGeom prst="ellipse">
            <a:avLst/>
          </a:prstGeom>
          <a:solidFill>
            <a:srgbClr val="D92D20"/>
          </a:solidFill>
          <a:ln/>
        </p:spPr>
      </p:sp>
      <p:sp>
        <p:nvSpPr>
          <p:cNvPr id="10" name="Text 7"/>
          <p:cNvSpPr/>
          <p:nvPr/>
        </p:nvSpPr>
        <p:spPr>
          <a:xfrm>
            <a:off x="8458200" y="32004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8942832" y="31638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Ready to evolve</a:t>
            </a:r>
            <a:endParaRPr lang="en-US" sz="1500" dirty="0"/>
          </a:p>
        </p:txBody>
      </p:sp>
      <p:sp>
        <p:nvSpPr>
          <p:cNvPr id="12" name="Text 9"/>
          <p:cNvSpPr/>
          <p:nvPr/>
        </p:nvSpPr>
        <p:spPr>
          <a:xfrm>
            <a:off x="8458200" y="3493008"/>
            <a:ext cx="3291840" cy="10515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Milestones met but unsigned, surfaced as their own panel.</a:t>
            </a:r>
            <a:endParaRPr lang="en-US" sz="1250" dirty="0"/>
          </a:p>
        </p:txBody>
      </p:sp>
      <p:sp>
        <p:nvSpPr>
          <p:cNvPr id="13" name="Shape 10"/>
          <p:cNvSpPr/>
          <p:nvPr/>
        </p:nvSpPr>
        <p:spPr>
          <a:xfrm>
            <a:off x="8458200" y="4800600"/>
            <a:ext cx="347472" cy="347472"/>
          </a:xfrm>
          <a:prstGeom prst="ellipse">
            <a:avLst/>
          </a:prstGeom>
          <a:solidFill>
            <a:srgbClr val="D92D20"/>
          </a:solidFill>
          <a:ln/>
        </p:spPr>
      </p:sp>
      <p:sp>
        <p:nvSpPr>
          <p:cNvPr id="14" name="Text 11"/>
          <p:cNvSpPr/>
          <p:nvPr/>
        </p:nvSpPr>
        <p:spPr>
          <a:xfrm>
            <a:off x="8458200" y="4800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8942832" y="47640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Full CRUD</a:t>
            </a:r>
            <a:endParaRPr lang="en-US" sz="1500" dirty="0"/>
          </a:p>
        </p:txBody>
      </p:sp>
      <p:sp>
        <p:nvSpPr>
          <p:cNvPr id="16" name="Text 13"/>
          <p:cNvSpPr/>
          <p:nvPr/>
        </p:nvSpPr>
        <p:spPr>
          <a:xfrm>
            <a:off x="8458200" y="5093208"/>
            <a:ext cx="3291840" cy="10515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Create, edit, delete trainers; add, edit, transfer, and remove roster members.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4F2"/>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Roster board</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The same roster as a drag-and-drop board — move a card to change its status.</a:t>
            </a:r>
            <a:endParaRPr lang="en-US" sz="1400" dirty="0"/>
          </a:p>
        </p:txBody>
      </p:sp>
      <p:pic>
        <p:nvPicPr>
          <p:cNvPr id="4" name="Image 0" descr="preencoded.png">    </p:cNvPr>
          <p:cNvPicPr>
            <a:picLocks noChangeAspect="1"/>
          </p:cNvPicPr>
          <p:nvPr/>
        </p:nvPicPr>
        <p:blipFill>
          <a:blip r:embed="rId1"/>
          <a:stretch>
            <a:fillRect/>
          </a:stretch>
        </p:blipFill>
        <p:spPr>
          <a:xfrm>
            <a:off x="2740280" y="1536192"/>
            <a:ext cx="6680960" cy="4480560"/>
          </a:xfrm>
          <a:prstGeom prst="rect">
            <a:avLst/>
          </a:prstGeom>
          <a:effectLst>
            <a:outerShdw sx="100000" sy="100000" kx="0" ky="0" algn="bl" rotWithShape="0" blurRad="177800" dist="38100" dir="5400000">
              <a:srgbClr val="000000">
                <a:alpha val="18000"/>
              </a:srgbClr>
            </a:outerShdw>
          </a:effectLst>
        </p:spPr>
      </p:pic>
      <p:sp>
        <p:nvSpPr>
          <p:cNvPr id="5" name="Text 2"/>
          <p:cNvSpPr/>
          <p:nvPr/>
        </p:nvSpPr>
        <p:spPr>
          <a:xfrm>
            <a:off x="548640" y="6144768"/>
            <a:ext cx="11064240" cy="365760"/>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Starter · Active · Reserve · Retired — the same enum the API already enforced, made physical. Moves are optimistic and undoable.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Lookup — and bulk actions</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All 1,025 Pokémon, filterable by type, generation, status, and trainer.</a:t>
            </a:r>
            <a:endParaRPr lang="en-US" sz="1400" dirty="0"/>
          </a:p>
        </p:txBody>
      </p:sp>
      <p:pic>
        <p:nvPicPr>
          <p:cNvPr id="4" name="Image 0" descr="preencoded.png">    </p:cNvPr>
          <p:cNvPicPr>
            <a:picLocks noChangeAspect="1"/>
          </p:cNvPicPr>
          <p:nvPr/>
        </p:nvPicPr>
        <p:blipFill>
          <a:blip r:embed="rId1"/>
          <a:stretch>
            <a:fillRect/>
          </a:stretch>
        </p:blipFill>
        <p:spPr>
          <a:xfrm>
            <a:off x="2978885" y="1536192"/>
            <a:ext cx="6203749" cy="4160520"/>
          </a:xfrm>
          <a:prstGeom prst="rect">
            <a:avLst/>
          </a:prstGeom>
          <a:effectLst>
            <a:outerShdw sx="100000" sy="100000" kx="0" ky="0" algn="bl" rotWithShape="0" blurRad="177800" dist="38100" dir="5400000">
              <a:srgbClr val="000000">
                <a:alpha val="18000"/>
              </a:srgbClr>
            </a:outerShdw>
          </a:effectLst>
        </p:spPr>
      </p:pic>
      <p:sp>
        <p:nvSpPr>
          <p:cNvPr id="5" name="Shape 2"/>
          <p:cNvSpPr/>
          <p:nvPr/>
        </p:nvSpPr>
        <p:spPr>
          <a:xfrm>
            <a:off x="548640" y="5870448"/>
            <a:ext cx="2651760" cy="475488"/>
          </a:xfrm>
          <a:prstGeom prst="roundRect">
            <a:avLst>
              <a:gd name="adj" fmla="val 19231"/>
            </a:avLst>
          </a:prstGeom>
          <a:solidFill>
            <a:srgbClr val="FDF0EF"/>
          </a:solidFill>
          <a:ln/>
        </p:spPr>
      </p:sp>
      <p:sp>
        <p:nvSpPr>
          <p:cNvPr id="6" name="Text 3"/>
          <p:cNvSpPr/>
          <p:nvPr/>
        </p:nvSpPr>
        <p:spPr>
          <a:xfrm>
            <a:off x="676656" y="5870448"/>
            <a:ext cx="2395728" cy="475488"/>
          </a:xfrm>
          <a:prstGeom prst="rect">
            <a:avLst/>
          </a:prstGeom>
          <a:noFill/>
          <a:ln/>
        </p:spPr>
        <p:txBody>
          <a:bodyPr wrap="square" lIns="0" tIns="0" rIns="0" bIns="0" rtlCol="0" anchor="ctr"/>
          <a:lstStyle/>
          <a:p>
            <a:pPr indent="0" marL="0">
              <a:buNone/>
            </a:pPr>
            <a:r>
              <a:rPr lang="en-US" sz="1150" dirty="0">
                <a:solidFill>
                  <a:srgbClr val="B42318"/>
                </a:solidFill>
                <a:latin typeface="Calibri" pitchFamily="34" charset="0"/>
                <a:ea typeface="Calibri" pitchFamily="34" charset="-122"/>
                <a:cs typeface="Calibri" pitchFamily="34" charset="-120"/>
              </a:rPr>
              <a:t>Selection spans pages</a:t>
            </a:r>
            <a:endParaRPr lang="en-US" sz="1150" dirty="0"/>
          </a:p>
        </p:txBody>
      </p:sp>
      <p:sp>
        <p:nvSpPr>
          <p:cNvPr id="7" name="Shape 4"/>
          <p:cNvSpPr/>
          <p:nvPr/>
        </p:nvSpPr>
        <p:spPr>
          <a:xfrm>
            <a:off x="3346704" y="5870448"/>
            <a:ext cx="2651760" cy="475488"/>
          </a:xfrm>
          <a:prstGeom prst="roundRect">
            <a:avLst>
              <a:gd name="adj" fmla="val 19231"/>
            </a:avLst>
          </a:prstGeom>
          <a:solidFill>
            <a:srgbClr val="FDF0EF"/>
          </a:solidFill>
          <a:ln/>
        </p:spPr>
      </p:sp>
      <p:sp>
        <p:nvSpPr>
          <p:cNvPr id="8" name="Text 5"/>
          <p:cNvSpPr/>
          <p:nvPr/>
        </p:nvSpPr>
        <p:spPr>
          <a:xfrm>
            <a:off x="3474720" y="5870448"/>
            <a:ext cx="2395728" cy="475488"/>
          </a:xfrm>
          <a:prstGeom prst="rect">
            <a:avLst/>
          </a:prstGeom>
          <a:noFill/>
          <a:ln/>
        </p:spPr>
        <p:txBody>
          <a:bodyPr wrap="square" lIns="0" tIns="0" rIns="0" bIns="0" rtlCol="0" anchor="ctr"/>
          <a:lstStyle/>
          <a:p>
            <a:pPr indent="0" marL="0">
              <a:buNone/>
            </a:pPr>
            <a:r>
              <a:rPr lang="en-US" sz="1150" dirty="0">
                <a:solidFill>
                  <a:srgbClr val="B42318"/>
                </a:solidFill>
                <a:latin typeface="Calibri" pitchFamily="34" charset="0"/>
                <a:ea typeface="Calibri" pitchFamily="34" charset="-122"/>
                <a:cs typeface="Calibri" pitchFamily="34" charset="-120"/>
              </a:rPr>
              <a:t>Set or clear a flag on many</a:t>
            </a:r>
            <a:endParaRPr lang="en-US" sz="1150" dirty="0"/>
          </a:p>
        </p:txBody>
      </p:sp>
      <p:sp>
        <p:nvSpPr>
          <p:cNvPr id="9" name="Shape 6"/>
          <p:cNvSpPr/>
          <p:nvPr/>
        </p:nvSpPr>
        <p:spPr>
          <a:xfrm>
            <a:off x="6144768" y="5870448"/>
            <a:ext cx="2651760" cy="475488"/>
          </a:xfrm>
          <a:prstGeom prst="roundRect">
            <a:avLst>
              <a:gd name="adj" fmla="val 19231"/>
            </a:avLst>
          </a:prstGeom>
          <a:solidFill>
            <a:srgbClr val="FDF0EF"/>
          </a:solidFill>
          <a:ln/>
        </p:spPr>
      </p:sp>
      <p:sp>
        <p:nvSpPr>
          <p:cNvPr id="10" name="Text 7"/>
          <p:cNvSpPr/>
          <p:nvPr/>
        </p:nvSpPr>
        <p:spPr>
          <a:xfrm>
            <a:off x="6272784" y="5870448"/>
            <a:ext cx="2395728" cy="475488"/>
          </a:xfrm>
          <a:prstGeom prst="rect">
            <a:avLst/>
          </a:prstGeom>
          <a:noFill/>
          <a:ln/>
        </p:spPr>
        <p:txBody>
          <a:bodyPr wrap="square" lIns="0" tIns="0" rIns="0" bIns="0" rtlCol="0" anchor="ctr"/>
          <a:lstStyle/>
          <a:p>
            <a:pPr indent="0" marL="0">
              <a:buNone/>
            </a:pPr>
            <a:r>
              <a:rPr lang="en-US" sz="1150" dirty="0">
                <a:solidFill>
                  <a:srgbClr val="B42318"/>
                </a:solidFill>
                <a:latin typeface="Calibri" pitchFamily="34" charset="0"/>
                <a:ea typeface="Calibri" pitchFamily="34" charset="-122"/>
                <a:cs typeface="Calibri" pitchFamily="34" charset="-120"/>
              </a:rPr>
              <a:t>One note across a selection</a:t>
            </a:r>
            <a:endParaRPr lang="en-US" sz="1150" dirty="0"/>
          </a:p>
        </p:txBody>
      </p:sp>
      <p:sp>
        <p:nvSpPr>
          <p:cNvPr id="11" name="Shape 8"/>
          <p:cNvSpPr/>
          <p:nvPr/>
        </p:nvSpPr>
        <p:spPr>
          <a:xfrm>
            <a:off x="8942832" y="5870448"/>
            <a:ext cx="2651760" cy="475488"/>
          </a:xfrm>
          <a:prstGeom prst="roundRect">
            <a:avLst>
              <a:gd name="adj" fmla="val 19231"/>
            </a:avLst>
          </a:prstGeom>
          <a:solidFill>
            <a:srgbClr val="FDF0EF"/>
          </a:solidFill>
          <a:ln/>
        </p:spPr>
      </p:sp>
      <p:sp>
        <p:nvSpPr>
          <p:cNvPr id="12" name="Text 9"/>
          <p:cNvSpPr/>
          <p:nvPr/>
        </p:nvSpPr>
        <p:spPr>
          <a:xfrm>
            <a:off x="9070848" y="5870448"/>
            <a:ext cx="2395728" cy="475488"/>
          </a:xfrm>
          <a:prstGeom prst="rect">
            <a:avLst/>
          </a:prstGeom>
          <a:noFill/>
          <a:ln/>
        </p:spPr>
        <p:txBody>
          <a:bodyPr wrap="square" lIns="0" tIns="0" rIns="0" bIns="0" rtlCol="0" anchor="ctr"/>
          <a:lstStyle/>
          <a:p>
            <a:pPr indent="0" marL="0">
              <a:buNone/>
            </a:pPr>
            <a:r>
              <a:rPr lang="en-US" sz="1150" dirty="0">
                <a:solidFill>
                  <a:srgbClr val="B42318"/>
                </a:solidFill>
                <a:latin typeface="Calibri" pitchFamily="34" charset="0"/>
                <a:ea typeface="Calibri" pitchFamily="34" charset="-122"/>
                <a:cs typeface="Calibri" pitchFamily="34" charset="-120"/>
              </a:rPr>
              <a:t>Add many to a roster at once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Profile — progress as a degree plan</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Every stage of the chain, with the requirement to reach it.</a:t>
            </a:r>
            <a:endParaRPr lang="en-US" sz="1400" dirty="0"/>
          </a:p>
        </p:txBody>
      </p:sp>
      <p:pic>
        <p:nvPicPr>
          <p:cNvPr id="4" name="Image 0" descr="preencoded.png">    </p:cNvPr>
          <p:cNvPicPr>
            <a:picLocks noChangeAspect="1"/>
          </p:cNvPicPr>
          <p:nvPr/>
        </p:nvPicPr>
        <p:blipFill>
          <a:blip r:embed="rId1"/>
          <a:stretch>
            <a:fillRect/>
          </a:stretch>
        </p:blipFill>
        <p:spPr>
          <a:xfrm>
            <a:off x="662054" y="1463040"/>
            <a:ext cx="7362691" cy="4937760"/>
          </a:xfrm>
          <a:prstGeom prst="rect">
            <a:avLst/>
          </a:prstGeom>
          <a:effectLst>
            <a:outerShdw sx="100000" sy="100000" kx="0" ky="0" algn="bl" rotWithShape="0" blurRad="177800" dist="38100" dir="5400000">
              <a:srgbClr val="000000">
                <a:alpha val="18000"/>
              </a:srgbClr>
            </a:outerShdw>
          </a:effectLst>
        </p:spPr>
      </p:pic>
      <p:sp>
        <p:nvSpPr>
          <p:cNvPr id="5" name="Shape 2"/>
          <p:cNvSpPr/>
          <p:nvPr/>
        </p:nvSpPr>
        <p:spPr>
          <a:xfrm>
            <a:off x="8458200" y="1600200"/>
            <a:ext cx="347472" cy="347472"/>
          </a:xfrm>
          <a:prstGeom prst="ellipse">
            <a:avLst/>
          </a:prstGeom>
          <a:solidFill>
            <a:srgbClr val="D92D20"/>
          </a:solidFill>
          <a:ln/>
        </p:spPr>
      </p:sp>
      <p:sp>
        <p:nvSpPr>
          <p:cNvPr id="6" name="Text 3"/>
          <p:cNvSpPr/>
          <p:nvPr/>
        </p:nvSpPr>
        <p:spPr>
          <a:xfrm>
            <a:off x="8458200" y="1600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8942832" y="15636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Branching handled</a:t>
            </a:r>
            <a:endParaRPr lang="en-US" sz="1500" dirty="0"/>
          </a:p>
        </p:txBody>
      </p:sp>
      <p:sp>
        <p:nvSpPr>
          <p:cNvPr id="8" name="Text 5"/>
          <p:cNvSpPr/>
          <p:nvPr/>
        </p:nvSpPr>
        <p:spPr>
          <a:xfrm>
            <a:off x="8458200" y="1892808"/>
            <a:ext cx="3291840" cy="10515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Eevee resolves to all eight options, each labelled with its own trigger.</a:t>
            </a:r>
            <a:endParaRPr lang="en-US" sz="1250" dirty="0"/>
          </a:p>
        </p:txBody>
      </p:sp>
      <p:sp>
        <p:nvSpPr>
          <p:cNvPr id="9" name="Shape 6"/>
          <p:cNvSpPr/>
          <p:nvPr/>
        </p:nvSpPr>
        <p:spPr>
          <a:xfrm>
            <a:off x="8458200" y="3200400"/>
            <a:ext cx="347472" cy="347472"/>
          </a:xfrm>
          <a:prstGeom prst="ellipse">
            <a:avLst/>
          </a:prstGeom>
          <a:solidFill>
            <a:srgbClr val="D92D20"/>
          </a:solidFill>
          <a:ln/>
        </p:spPr>
      </p:sp>
      <p:sp>
        <p:nvSpPr>
          <p:cNvPr id="10" name="Text 7"/>
          <p:cNvSpPr/>
          <p:nvPr/>
        </p:nvSpPr>
        <p:spPr>
          <a:xfrm>
            <a:off x="8458200" y="32004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8942832" y="31638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Not every path is a level</a:t>
            </a:r>
            <a:endParaRPr lang="en-US" sz="1500" dirty="0"/>
          </a:p>
        </p:txBody>
      </p:sp>
      <p:sp>
        <p:nvSpPr>
          <p:cNvPr id="12" name="Text 9"/>
          <p:cNvSpPr/>
          <p:nvPr/>
        </p:nvSpPr>
        <p:spPr>
          <a:xfrm>
            <a:off x="8458200" y="3493008"/>
            <a:ext cx="3291840" cy="10515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Roughly a third evolve by stone, trade, or friendship — those store the reason instead.</a:t>
            </a:r>
            <a:endParaRPr lang="en-US" sz="1250" dirty="0"/>
          </a:p>
        </p:txBody>
      </p:sp>
      <p:sp>
        <p:nvSpPr>
          <p:cNvPr id="13" name="Shape 10"/>
          <p:cNvSpPr/>
          <p:nvPr/>
        </p:nvSpPr>
        <p:spPr>
          <a:xfrm>
            <a:off x="8458200" y="4800600"/>
            <a:ext cx="347472" cy="347472"/>
          </a:xfrm>
          <a:prstGeom prst="ellipse">
            <a:avLst/>
          </a:prstGeom>
          <a:solidFill>
            <a:srgbClr val="D92D20"/>
          </a:solidFill>
          <a:ln/>
        </p:spPr>
      </p:sp>
      <p:sp>
        <p:nvSpPr>
          <p:cNvPr id="14" name="Text 11"/>
          <p:cNvSpPr/>
          <p:nvPr/>
        </p:nvSpPr>
        <p:spPr>
          <a:xfrm>
            <a:off x="8458200" y="4800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8942832" y="47640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Feeds the queue</a:t>
            </a:r>
            <a:endParaRPr lang="en-US" sz="1500" dirty="0"/>
          </a:p>
        </p:txBody>
      </p:sp>
      <p:sp>
        <p:nvSpPr>
          <p:cNvPr id="16" name="Text 13"/>
          <p:cNvSpPr/>
          <p:nvPr/>
        </p:nvSpPr>
        <p:spPr>
          <a:xfrm>
            <a:off x="8458200" y="5093208"/>
            <a:ext cx="3291840" cy="10515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A met level requirement becomes a milestone on the trainer dashboard.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4F2"/>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Performance dashboard</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Exploratory analysis across the whole dataset, computed in SQL.</a:t>
            </a:r>
            <a:endParaRPr lang="en-US" sz="1400" dirty="0"/>
          </a:p>
        </p:txBody>
      </p:sp>
      <p:pic>
        <p:nvPicPr>
          <p:cNvPr id="4" name="Image 0" descr="preencoded.png">    </p:cNvPr>
          <p:cNvPicPr>
            <a:picLocks noChangeAspect="1"/>
          </p:cNvPicPr>
          <p:nvPr/>
        </p:nvPicPr>
        <p:blipFill>
          <a:blip r:embed="rId1"/>
          <a:stretch>
            <a:fillRect/>
          </a:stretch>
        </p:blipFill>
        <p:spPr>
          <a:xfrm>
            <a:off x="3008376" y="1536192"/>
            <a:ext cx="6144768" cy="4480560"/>
          </a:xfrm>
          <a:prstGeom prst="rect">
            <a:avLst/>
          </a:prstGeom>
          <a:effectLst>
            <a:outerShdw sx="100000" sy="100000" kx="0" ky="0" algn="bl" rotWithShape="0" blurRad="177800" dist="38100" dir="5400000">
              <a:srgbClr val="000000">
                <a:alpha val="18000"/>
              </a:srgbClr>
            </a:outerShdw>
          </a:effectLst>
        </p:spPr>
      </p:pic>
      <p:sp>
        <p:nvSpPr>
          <p:cNvPr id="5" name="Text 2"/>
          <p:cNvSpPr/>
          <p:nvPr/>
        </p:nvSpPr>
        <p:spPr>
          <a:xfrm>
            <a:off x="548640" y="6144768"/>
            <a:ext cx="11064240" cy="365760"/>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Distributions, per-stat averages, type and generation breakdowns, and an attack-vs-speed scatter — every aggregation in one round trip.</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Getting around</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Ctrl+K from anywhere — Pokémon, trainers, and pages in one list.</a:t>
            </a:r>
            <a:endParaRPr lang="en-US" sz="1400" dirty="0"/>
          </a:p>
        </p:txBody>
      </p:sp>
      <p:pic>
        <p:nvPicPr>
          <p:cNvPr id="4" name="Image 0" descr="preencoded.png">    </p:cNvPr>
          <p:cNvPicPr>
            <a:picLocks noChangeAspect="1"/>
          </p:cNvPicPr>
          <p:nvPr/>
        </p:nvPicPr>
        <p:blipFill>
          <a:blip r:embed="rId1"/>
          <a:stretch>
            <a:fillRect/>
          </a:stretch>
        </p:blipFill>
        <p:spPr>
          <a:xfrm>
            <a:off x="662054" y="1463040"/>
            <a:ext cx="7362691" cy="4937760"/>
          </a:xfrm>
          <a:prstGeom prst="rect">
            <a:avLst/>
          </a:prstGeom>
          <a:effectLst>
            <a:outerShdw sx="100000" sy="100000" kx="0" ky="0" algn="bl" rotWithShape="0" blurRad="177800" dist="38100" dir="5400000">
              <a:srgbClr val="000000">
                <a:alpha val="18000"/>
              </a:srgbClr>
            </a:outerShdw>
          </a:effectLst>
        </p:spPr>
      </p:pic>
      <p:sp>
        <p:nvSpPr>
          <p:cNvPr id="5" name="Shape 2"/>
          <p:cNvSpPr/>
          <p:nvPr/>
        </p:nvSpPr>
        <p:spPr>
          <a:xfrm>
            <a:off x="8458200" y="1600200"/>
            <a:ext cx="347472" cy="347472"/>
          </a:xfrm>
          <a:prstGeom prst="ellipse">
            <a:avLst/>
          </a:prstGeom>
          <a:solidFill>
            <a:srgbClr val="D92D20"/>
          </a:solidFill>
          <a:ln/>
        </p:spPr>
      </p:sp>
      <p:sp>
        <p:nvSpPr>
          <p:cNvPr id="6" name="Text 3"/>
          <p:cNvSpPr/>
          <p:nvPr/>
        </p:nvSpPr>
        <p:spPr>
          <a:xfrm>
            <a:off x="8458200" y="1600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8942832" y="15636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No second index</a:t>
            </a:r>
            <a:endParaRPr lang="en-US" sz="1500" dirty="0"/>
          </a:p>
        </p:txBody>
      </p:sp>
      <p:sp>
        <p:nvSpPr>
          <p:cNvPr id="8" name="Text 5"/>
          <p:cNvSpPr/>
          <p:nvPr/>
        </p:nvSpPr>
        <p:spPr>
          <a:xfrm>
            <a:off x="8458200" y="1892808"/>
            <a:ext cx="3291840" cy="10515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It searches the same endpoints the pages use, so results can never drift.</a:t>
            </a:r>
            <a:endParaRPr lang="en-US" sz="1250" dirty="0"/>
          </a:p>
        </p:txBody>
      </p:sp>
      <p:sp>
        <p:nvSpPr>
          <p:cNvPr id="9" name="Shape 6"/>
          <p:cNvSpPr/>
          <p:nvPr/>
        </p:nvSpPr>
        <p:spPr>
          <a:xfrm>
            <a:off x="8458200" y="3200400"/>
            <a:ext cx="347472" cy="347472"/>
          </a:xfrm>
          <a:prstGeom prst="ellipse">
            <a:avLst/>
          </a:prstGeom>
          <a:solidFill>
            <a:srgbClr val="D92D20"/>
          </a:solidFill>
          <a:ln/>
        </p:spPr>
      </p:sp>
      <p:sp>
        <p:nvSpPr>
          <p:cNvPr id="10" name="Text 7"/>
          <p:cNvSpPr/>
          <p:nvPr/>
        </p:nvSpPr>
        <p:spPr>
          <a:xfrm>
            <a:off x="8458200" y="32004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8942832" y="31638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Undo, not confirm</a:t>
            </a:r>
            <a:endParaRPr lang="en-US" sz="1500" dirty="0"/>
          </a:p>
        </p:txBody>
      </p:sp>
      <p:sp>
        <p:nvSpPr>
          <p:cNvPr id="12" name="Text 9"/>
          <p:cNvSpPr/>
          <p:nvPr/>
        </p:nvSpPr>
        <p:spPr>
          <a:xfrm>
            <a:off x="8458200" y="3493008"/>
            <a:ext cx="3291840" cy="10515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Destructive actions happen, then offer Undo in a toast.</a:t>
            </a:r>
            <a:endParaRPr lang="en-US" sz="1250" dirty="0"/>
          </a:p>
        </p:txBody>
      </p:sp>
      <p:sp>
        <p:nvSpPr>
          <p:cNvPr id="13" name="Shape 10"/>
          <p:cNvSpPr/>
          <p:nvPr/>
        </p:nvSpPr>
        <p:spPr>
          <a:xfrm>
            <a:off x="8458200" y="4800600"/>
            <a:ext cx="347472" cy="347472"/>
          </a:xfrm>
          <a:prstGeom prst="ellipse">
            <a:avLst/>
          </a:prstGeom>
          <a:solidFill>
            <a:srgbClr val="D92D20"/>
          </a:solidFill>
          <a:ln/>
        </p:spPr>
      </p:sp>
      <p:sp>
        <p:nvSpPr>
          <p:cNvPr id="14" name="Text 11"/>
          <p:cNvSpPr/>
          <p:nvPr/>
        </p:nvSpPr>
        <p:spPr>
          <a:xfrm>
            <a:off x="8458200" y="4800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8942832" y="47640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Saved views</a:t>
            </a:r>
            <a:endParaRPr lang="en-US" sz="1500" dirty="0"/>
          </a:p>
        </p:txBody>
      </p:sp>
      <p:sp>
        <p:nvSpPr>
          <p:cNvPr id="16" name="Text 13"/>
          <p:cNvSpPr/>
          <p:nvPr/>
        </p:nvSpPr>
        <p:spPr>
          <a:xfrm>
            <a:off x="8458200" y="5093208"/>
            <a:ext cx="3291840" cy="10515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Name a set of filters on Lookup, Notes, or Activity and reopen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7A1710"/>
        </a:solidFill>
      </p:bgPr>
    </p:bg>
    <p:spTree>
      <p:nvGrpSpPr>
        <p:cNvPr id="1" name=""/>
        <p:cNvGrpSpPr/>
        <p:nvPr/>
      </p:nvGrpSpPr>
      <p:grpSpPr>
        <a:xfrm>
          <a:off x="0" y="0"/>
          <a:ext cx="0" cy="0"/>
          <a:chOff x="0" y="0"/>
          <a:chExt cx="0" cy="0"/>
        </a:xfrm>
      </p:grpSpPr>
      <p:sp>
        <p:nvSpPr>
          <p:cNvPr id="2" name="Text 0"/>
          <p:cNvSpPr/>
          <p:nvPr/>
        </p:nvSpPr>
        <p:spPr>
          <a:xfrm>
            <a:off x="777240" y="777240"/>
            <a:ext cx="100584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it goes next</a:t>
            </a:r>
            <a:endParaRPr lang="en-US" sz="3800" dirty="0"/>
          </a:p>
        </p:txBody>
      </p:sp>
      <p:sp>
        <p:nvSpPr>
          <p:cNvPr id="3" name="Shape 1"/>
          <p:cNvSpPr/>
          <p:nvPr/>
        </p:nvSpPr>
        <p:spPr>
          <a:xfrm>
            <a:off x="777240" y="1828800"/>
            <a:ext cx="384048" cy="384048"/>
          </a:xfrm>
          <a:prstGeom prst="ellipse">
            <a:avLst/>
          </a:prstGeom>
          <a:solidFill>
            <a:srgbClr val="D92D20"/>
          </a:solidFill>
          <a:ln/>
        </p:spPr>
      </p:sp>
      <p:sp>
        <p:nvSpPr>
          <p:cNvPr id="4" name="Text 2"/>
          <p:cNvSpPr/>
          <p:nvPr/>
        </p:nvSpPr>
        <p:spPr>
          <a:xfrm>
            <a:off x="777240" y="1828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5" name="Text 3"/>
          <p:cNvSpPr/>
          <p:nvPr/>
        </p:nvSpPr>
        <p:spPr>
          <a:xfrm>
            <a:off x="1325880" y="1810512"/>
            <a:ext cx="475488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Type-effectiveness coverage</a:t>
            </a:r>
            <a:endParaRPr lang="en-US" sz="1700" dirty="0"/>
          </a:p>
        </p:txBody>
      </p:sp>
      <p:sp>
        <p:nvSpPr>
          <p:cNvPr id="6" name="Text 4"/>
          <p:cNvSpPr/>
          <p:nvPr/>
        </p:nvSpPr>
        <p:spPr>
          <a:xfrm>
            <a:off x="1325880" y="2176272"/>
            <a:ext cx="4754880" cy="1097280"/>
          </a:xfrm>
          <a:prstGeom prst="rect">
            <a:avLst/>
          </a:prstGeom>
          <a:noFill/>
          <a:ln/>
        </p:spPr>
        <p:txBody>
          <a:bodyPr wrap="square" lIns="0" tIns="0" rIns="0" bIns="0" rtlCol="0" anchor="ctr"/>
          <a:lstStyle/>
          <a:p>
            <a:pPr indent="0" marL="0">
              <a:buNone/>
            </a:pPr>
            <a:r>
              <a:rPr lang="en-US" sz="1300" dirty="0">
                <a:solidFill>
                  <a:srgbClr val="E9A8A1"/>
                </a:solidFill>
                <a:latin typeface="Calibri" pitchFamily="34" charset="0"/>
                <a:ea typeface="Calibri" pitchFamily="34" charset="-122"/>
                <a:cs typeface="Calibri" pitchFamily="34" charset="-120"/>
              </a:rPr>
              <a:t>Eighteen requests turn the roster type chart into a real gap report — “no answer to Steel”.</a:t>
            </a:r>
            <a:endParaRPr lang="en-US" sz="1300" dirty="0"/>
          </a:p>
        </p:txBody>
      </p:sp>
      <p:sp>
        <p:nvSpPr>
          <p:cNvPr id="7" name="Shape 5"/>
          <p:cNvSpPr/>
          <p:nvPr/>
        </p:nvSpPr>
        <p:spPr>
          <a:xfrm>
            <a:off x="6355080" y="1828800"/>
            <a:ext cx="384048" cy="384048"/>
          </a:xfrm>
          <a:prstGeom prst="ellipse">
            <a:avLst/>
          </a:prstGeom>
          <a:solidFill>
            <a:srgbClr val="D92D20"/>
          </a:solidFill>
          <a:ln/>
        </p:spPr>
      </p:sp>
      <p:sp>
        <p:nvSpPr>
          <p:cNvPr id="8" name="Text 6"/>
          <p:cNvSpPr/>
          <p:nvPr/>
        </p:nvSpPr>
        <p:spPr>
          <a:xfrm>
            <a:off x="6355080" y="1828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9" name="Text 7"/>
          <p:cNvSpPr/>
          <p:nvPr/>
        </p:nvSpPr>
        <p:spPr>
          <a:xfrm>
            <a:off x="6903720" y="1810512"/>
            <a:ext cx="475488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Encounters and abilities</a:t>
            </a:r>
            <a:endParaRPr lang="en-US" sz="1700" dirty="0"/>
          </a:p>
        </p:txBody>
      </p:sp>
      <p:sp>
        <p:nvSpPr>
          <p:cNvPr id="10" name="Text 8"/>
          <p:cNvSpPr/>
          <p:nvPr/>
        </p:nvSpPr>
        <p:spPr>
          <a:xfrm>
            <a:off x="6903720" y="2176272"/>
            <a:ext cx="4754880" cy="1097280"/>
          </a:xfrm>
          <a:prstGeom prst="rect">
            <a:avLst/>
          </a:prstGeom>
          <a:noFill/>
          <a:ln/>
        </p:spPr>
        <p:txBody>
          <a:bodyPr wrap="square" lIns="0" tIns="0" rIns="0" bIns="0" rtlCol="0" anchor="ctr"/>
          <a:lstStyle/>
          <a:p>
            <a:pPr indent="0" marL="0">
              <a:buNone/>
            </a:pPr>
            <a:r>
              <a:rPr lang="en-US" sz="1300" dirty="0">
                <a:solidFill>
                  <a:srgbClr val="E9A8A1"/>
                </a:solidFill>
                <a:latin typeface="Calibri" pitchFamily="34" charset="0"/>
                <a:ea typeface="Calibri" pitchFamily="34" charset="-122"/>
                <a:cs typeface="Calibri" pitchFamily="34" charset="-120"/>
              </a:rPr>
              <a:t>Where a Pokémon comes from, and ability text as prose instead of slugs.</a:t>
            </a:r>
            <a:endParaRPr lang="en-US" sz="1300" dirty="0"/>
          </a:p>
        </p:txBody>
      </p:sp>
      <p:sp>
        <p:nvSpPr>
          <p:cNvPr id="11" name="Shape 9"/>
          <p:cNvSpPr/>
          <p:nvPr/>
        </p:nvSpPr>
        <p:spPr>
          <a:xfrm>
            <a:off x="777240" y="3794760"/>
            <a:ext cx="384048" cy="384048"/>
          </a:xfrm>
          <a:prstGeom prst="ellipse">
            <a:avLst/>
          </a:prstGeom>
          <a:solidFill>
            <a:srgbClr val="D92D20"/>
          </a:solidFill>
          <a:ln/>
        </p:spPr>
      </p:sp>
      <p:sp>
        <p:nvSpPr>
          <p:cNvPr id="12" name="Text 10"/>
          <p:cNvSpPr/>
          <p:nvPr/>
        </p:nvSpPr>
        <p:spPr>
          <a:xfrm>
            <a:off x="777240" y="37947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p:nvPr/>
        </p:nvSpPr>
        <p:spPr>
          <a:xfrm>
            <a:off x="1325880" y="3776472"/>
            <a:ext cx="475488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Authentication</a:t>
            </a:r>
            <a:endParaRPr lang="en-US" sz="1700" dirty="0"/>
          </a:p>
        </p:txBody>
      </p:sp>
      <p:sp>
        <p:nvSpPr>
          <p:cNvPr id="14" name="Text 12"/>
          <p:cNvSpPr/>
          <p:nvPr/>
        </p:nvSpPr>
        <p:spPr>
          <a:xfrm>
            <a:off x="1325880" y="4142232"/>
            <a:ext cx="4754880" cy="1097280"/>
          </a:xfrm>
          <a:prstGeom prst="rect">
            <a:avLst/>
          </a:prstGeom>
          <a:noFill/>
          <a:ln/>
        </p:spPr>
        <p:txBody>
          <a:bodyPr wrap="square" lIns="0" tIns="0" rIns="0" bIns="0" rtlCol="0" anchor="ctr"/>
          <a:lstStyle/>
          <a:p>
            <a:pPr indent="0" marL="0">
              <a:buNone/>
            </a:pPr>
            <a:r>
              <a:rPr lang="en-US" sz="1300" dirty="0">
                <a:solidFill>
                  <a:srgbClr val="E9A8A1"/>
                </a:solidFill>
                <a:latin typeface="Calibri" pitchFamily="34" charset="0"/>
                <a:ea typeface="Calibri" pitchFamily="34" charset="-122"/>
                <a:cs typeface="Calibri" pitchFamily="34" charset="-120"/>
              </a:rPr>
              <a:t>The acting-as switcher attributes writes but verifies nothing. Real auth replaces the body of one function, ownerFor().</a:t>
            </a:r>
            <a:endParaRPr lang="en-US" sz="1300" dirty="0"/>
          </a:p>
        </p:txBody>
      </p:sp>
      <p:sp>
        <p:nvSpPr>
          <p:cNvPr id="15" name="Shape 13"/>
          <p:cNvSpPr/>
          <p:nvPr/>
        </p:nvSpPr>
        <p:spPr>
          <a:xfrm>
            <a:off x="6355080" y="3794760"/>
            <a:ext cx="384048" cy="384048"/>
          </a:xfrm>
          <a:prstGeom prst="ellipse">
            <a:avLst/>
          </a:prstGeom>
          <a:solidFill>
            <a:srgbClr val="D92D20"/>
          </a:solidFill>
          <a:ln/>
        </p:spPr>
      </p:sp>
      <p:sp>
        <p:nvSpPr>
          <p:cNvPr id="16" name="Text 14"/>
          <p:cNvSpPr/>
          <p:nvPr/>
        </p:nvSpPr>
        <p:spPr>
          <a:xfrm>
            <a:off x="6355080" y="37947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7" name="Text 15"/>
          <p:cNvSpPr/>
          <p:nvPr/>
        </p:nvSpPr>
        <p:spPr>
          <a:xfrm>
            <a:off x="6903720" y="3776472"/>
            <a:ext cx="475488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Tests</a:t>
            </a:r>
            <a:endParaRPr lang="en-US" sz="1700" dirty="0"/>
          </a:p>
        </p:txBody>
      </p:sp>
      <p:sp>
        <p:nvSpPr>
          <p:cNvPr id="18" name="Text 16"/>
          <p:cNvSpPr/>
          <p:nvPr/>
        </p:nvSpPr>
        <p:spPr>
          <a:xfrm>
            <a:off x="6903720" y="4142232"/>
            <a:ext cx="4754880" cy="1097280"/>
          </a:xfrm>
          <a:prstGeom prst="rect">
            <a:avLst/>
          </a:prstGeom>
          <a:noFill/>
          <a:ln/>
        </p:spPr>
        <p:txBody>
          <a:bodyPr wrap="square" lIns="0" tIns="0" rIns="0" bIns="0" rtlCol="0" anchor="ctr"/>
          <a:lstStyle/>
          <a:p>
            <a:pPr indent="0" marL="0">
              <a:buNone/>
            </a:pPr>
            <a:r>
              <a:rPr lang="en-US" sz="1300" dirty="0">
                <a:solidFill>
                  <a:srgbClr val="E9A8A1"/>
                </a:solidFill>
                <a:latin typeface="Calibri" pitchFamily="34" charset="0"/>
                <a:ea typeface="Calibri" pitchFamily="34" charset="-122"/>
                <a:cs typeface="Calibri" pitchFamily="34" charset="-120"/>
              </a:rPr>
              <a:t>A silent subquery bug shipped once. API-level tests over the aggregations would have caught it.</a:t>
            </a:r>
            <a:endParaRPr lang="en-US" sz="1300" dirty="0"/>
          </a:p>
        </p:txBody>
      </p:sp>
      <p:sp>
        <p:nvSpPr>
          <p:cNvPr id="19" name="Text 17"/>
          <p:cNvSpPr/>
          <p:nvPr/>
        </p:nvSpPr>
        <p:spPr>
          <a:xfrm>
            <a:off x="777240" y="6035040"/>
            <a:ext cx="10607040" cy="320040"/>
          </a:xfrm>
          <a:prstGeom prst="rect">
            <a:avLst/>
          </a:prstGeom>
          <a:noFill/>
          <a:ln/>
        </p:spPr>
        <p:txBody>
          <a:bodyPr wrap="square" lIns="0" tIns="0" rIns="0" bIns="0" rtlCol="0" anchor="ctr"/>
          <a:lstStyle/>
          <a:p>
            <a:pPr indent="0" marL="0">
              <a:buNone/>
            </a:pPr>
            <a:r>
              <a:rPr lang="en-US" sz="1100" dirty="0">
                <a:solidFill>
                  <a:srgbClr val="C98B84"/>
                </a:solidFill>
                <a:latin typeface="Calibri" pitchFamily="34" charset="0"/>
                <a:ea typeface="Calibri" pitchFamily="34" charset="-122"/>
                <a:cs typeface="Calibri" pitchFamily="34" charset="-120"/>
              </a:rPr>
              <a:t>Backlog lives in TODO.md · architecture and conventions in CLAUDE.md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Moves — the course catalogue</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Every move in the dataset, with the metadata a movepool is built from.</a:t>
            </a:r>
            <a:endParaRPr lang="en-US" sz="1400" dirty="0"/>
          </a:p>
        </p:txBody>
      </p:sp>
      <p:pic>
        <p:nvPicPr>
          <p:cNvPr id="4" name="Image 0" descr="preencoded.png">    </p:cNvPr>
          <p:cNvPicPr>
            <a:picLocks noChangeAspect="1"/>
          </p:cNvPicPr>
          <p:nvPr/>
        </p:nvPicPr>
        <p:blipFill>
          <a:blip r:embed="rId1"/>
          <a:stretch>
            <a:fillRect/>
          </a:stretch>
        </p:blipFill>
        <p:spPr>
          <a:xfrm>
            <a:off x="957507" y="1463040"/>
            <a:ext cx="6771785" cy="4937760"/>
          </a:xfrm>
          <a:prstGeom prst="rect">
            <a:avLst/>
          </a:prstGeom>
          <a:effectLst>
            <a:outerShdw sx="100000" sy="100000" kx="0" ky="0" algn="bl" rotWithShape="0" blurRad="177800" dist="38100" dir="5400000">
              <a:srgbClr val="000000">
                <a:alpha val="18000"/>
              </a:srgbClr>
            </a:outerShdw>
          </a:effectLst>
        </p:spPr>
      </p:pic>
      <p:sp>
        <p:nvSpPr>
          <p:cNvPr id="5" name="Shape 2"/>
          <p:cNvSpPr/>
          <p:nvPr/>
        </p:nvSpPr>
        <p:spPr>
          <a:xfrm>
            <a:off x="8458200" y="1600200"/>
            <a:ext cx="347472" cy="347472"/>
          </a:xfrm>
          <a:prstGeom prst="ellipse">
            <a:avLst/>
          </a:prstGeom>
          <a:solidFill>
            <a:srgbClr val="D92D20"/>
          </a:solidFill>
          <a:ln/>
        </p:spPr>
      </p:sp>
      <p:sp>
        <p:nvSpPr>
          <p:cNvPr id="6" name="Text 3"/>
          <p:cNvSpPr/>
          <p:nvPr/>
        </p:nvSpPr>
        <p:spPr>
          <a:xfrm>
            <a:off x="8458200" y="1600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8942832" y="15636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Nullable is not zero</a:t>
            </a:r>
            <a:endParaRPr lang="en-US" sz="1500" dirty="0"/>
          </a:p>
        </p:txBody>
      </p:sp>
      <p:sp>
        <p:nvSpPr>
          <p:cNvPr id="8" name="Text 5"/>
          <p:cNvSpPr/>
          <p:nvPr/>
        </p:nvSpPr>
        <p:spPr>
          <a:xfrm>
            <a:off x="8458200" y="18928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A status move has no power; a move that never misses has no accuracy. Both render as —, and neither is counted in a mean.</a:t>
            </a:r>
            <a:endParaRPr lang="en-US" sz="1250" dirty="0"/>
          </a:p>
        </p:txBody>
      </p:sp>
      <p:sp>
        <p:nvSpPr>
          <p:cNvPr id="9" name="Shape 6"/>
          <p:cNvSpPr/>
          <p:nvPr/>
        </p:nvSpPr>
        <p:spPr>
          <a:xfrm>
            <a:off x="8458200" y="3200400"/>
            <a:ext cx="347472" cy="347472"/>
          </a:xfrm>
          <a:prstGeom prst="ellipse">
            <a:avLst/>
          </a:prstGeom>
          <a:solidFill>
            <a:srgbClr val="D92D20"/>
          </a:solidFill>
          <a:ln/>
        </p:spPr>
      </p:sp>
      <p:sp>
        <p:nvSpPr>
          <p:cNvPr id="10" name="Text 7"/>
          <p:cNvSpPr/>
          <p:nvPr/>
        </p:nvSpPr>
        <p:spPr>
          <a:xfrm>
            <a:off x="8458200" y="32004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8942832" y="31638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Filter like the dex</a:t>
            </a:r>
            <a:endParaRPr lang="en-US" sz="1500" dirty="0"/>
          </a:p>
        </p:txBody>
      </p:sp>
      <p:sp>
        <p:nvSpPr>
          <p:cNvPr id="12" name="Text 9"/>
          <p:cNvSpPr/>
          <p:nvPr/>
        </p:nvSpPr>
        <p:spPr>
          <a:xfrm>
            <a:off x="8458200" y="34930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Search, type, damage class, generation, learn method and a power range — all server-side, sorted and paginated.</a:t>
            </a:r>
            <a:endParaRPr lang="en-US" sz="1250" dirty="0"/>
          </a:p>
        </p:txBody>
      </p:sp>
      <p:sp>
        <p:nvSpPr>
          <p:cNvPr id="13" name="Shape 10"/>
          <p:cNvSpPr/>
          <p:nvPr/>
        </p:nvSpPr>
        <p:spPr>
          <a:xfrm>
            <a:off x="8458200" y="4800600"/>
            <a:ext cx="347472" cy="347472"/>
          </a:xfrm>
          <a:prstGeom prst="ellipse">
            <a:avLst/>
          </a:prstGeom>
          <a:solidFill>
            <a:srgbClr val="D92D20"/>
          </a:solidFill>
          <a:ln/>
        </p:spPr>
      </p:sp>
      <p:sp>
        <p:nvSpPr>
          <p:cNvPr id="14" name="Text 11"/>
          <p:cNvSpPr/>
          <p:nvPr/>
        </p:nvSpPr>
        <p:spPr>
          <a:xfrm>
            <a:off x="8458200" y="4800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8942832" y="47640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Scoped to a roster</a:t>
            </a:r>
            <a:endParaRPr lang="en-US" sz="1500" dirty="0"/>
          </a:p>
        </p:txBody>
      </p:sp>
      <p:sp>
        <p:nvSpPr>
          <p:cNvPr id="16" name="Text 13"/>
          <p:cNvSpPr/>
          <p:nvPr/>
        </p:nvSpPr>
        <p:spPr>
          <a:xfrm>
            <a:off x="8458200" y="50932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Arrive from a Pokémon or a trainer and the catalogue narrows to what they can actually learn.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One move — who learns it, and how</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Every route into a move, and the trainers who could field it.</a:t>
            </a:r>
            <a:endParaRPr lang="en-US" sz="1400" dirty="0"/>
          </a:p>
        </p:txBody>
      </p:sp>
      <p:pic>
        <p:nvPicPr>
          <p:cNvPr id="4" name="Image 0" descr="preencoded.png">    </p:cNvPr>
          <p:cNvPicPr>
            <a:picLocks noChangeAspect="1"/>
          </p:cNvPicPr>
          <p:nvPr/>
        </p:nvPicPr>
        <p:blipFill>
          <a:blip r:embed="rId1"/>
          <a:stretch>
            <a:fillRect/>
          </a:stretch>
        </p:blipFill>
        <p:spPr>
          <a:xfrm>
            <a:off x="957507" y="1463040"/>
            <a:ext cx="6771785" cy="4937760"/>
          </a:xfrm>
          <a:prstGeom prst="rect">
            <a:avLst/>
          </a:prstGeom>
          <a:effectLst>
            <a:outerShdw sx="100000" sy="100000" kx="0" ky="0" algn="bl" rotWithShape="0" blurRad="177800" dist="38100" dir="5400000">
              <a:srgbClr val="000000">
                <a:alpha val="18000"/>
              </a:srgbClr>
            </a:outerShdw>
          </a:effectLst>
        </p:spPr>
      </p:pic>
      <p:sp>
        <p:nvSpPr>
          <p:cNvPr id="5" name="Shape 2"/>
          <p:cNvSpPr/>
          <p:nvPr/>
        </p:nvSpPr>
        <p:spPr>
          <a:xfrm>
            <a:off x="8458200" y="1600200"/>
            <a:ext cx="347472" cy="347472"/>
          </a:xfrm>
          <a:prstGeom prst="ellipse">
            <a:avLst/>
          </a:prstGeom>
          <a:solidFill>
            <a:srgbClr val="D92D20"/>
          </a:solidFill>
          <a:ln/>
        </p:spPr>
      </p:sp>
      <p:sp>
        <p:nvSpPr>
          <p:cNvPr id="6" name="Text 3"/>
          <p:cNvSpPr/>
          <p:nvPr/>
        </p:nvSpPr>
        <p:spPr>
          <a:xfrm>
            <a:off x="8458200" y="1600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8942832" y="15636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Routes, counted</a:t>
            </a:r>
            <a:endParaRPr lang="en-US" sz="1500" dirty="0"/>
          </a:p>
        </p:txBody>
      </p:sp>
      <p:sp>
        <p:nvSpPr>
          <p:cNvPr id="8" name="Text 5"/>
          <p:cNvSpPr/>
          <p:nvPr/>
        </p:nvSpPr>
        <p:spPr>
          <a:xfrm>
            <a:off x="8458200" y="18928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TM, tutor, egg, training and level-up each carry their own count, with a mean level where levels apply.</a:t>
            </a:r>
            <a:endParaRPr lang="en-US" sz="1250" dirty="0"/>
          </a:p>
        </p:txBody>
      </p:sp>
      <p:sp>
        <p:nvSpPr>
          <p:cNvPr id="9" name="Shape 6"/>
          <p:cNvSpPr/>
          <p:nvPr/>
        </p:nvSpPr>
        <p:spPr>
          <a:xfrm>
            <a:off x="8458200" y="3200400"/>
            <a:ext cx="347472" cy="347472"/>
          </a:xfrm>
          <a:prstGeom prst="ellipse">
            <a:avLst/>
          </a:prstGeom>
          <a:solidFill>
            <a:srgbClr val="D92D20"/>
          </a:solidFill>
          <a:ln/>
        </p:spPr>
      </p:sp>
      <p:sp>
        <p:nvSpPr>
          <p:cNvPr id="10" name="Text 7"/>
          <p:cNvSpPr/>
          <p:nvPr/>
        </p:nvSpPr>
        <p:spPr>
          <a:xfrm>
            <a:off x="8458200" y="32004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8942832" y="31638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Coverage, not just power</a:t>
            </a:r>
            <a:endParaRPr lang="en-US" sz="1500" dirty="0"/>
          </a:p>
        </p:txBody>
      </p:sp>
      <p:sp>
        <p:nvSpPr>
          <p:cNvPr id="12" name="Text 9"/>
          <p:cNvSpPr/>
          <p:nvPr/>
        </p:nvSpPr>
        <p:spPr>
          <a:xfrm>
            <a:off x="8458200" y="34930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Which types learn it, and a STAB marker on learners whose own type matches the move.</a:t>
            </a:r>
            <a:endParaRPr lang="en-US" sz="1250" dirty="0"/>
          </a:p>
        </p:txBody>
      </p:sp>
      <p:sp>
        <p:nvSpPr>
          <p:cNvPr id="13" name="Shape 10"/>
          <p:cNvSpPr/>
          <p:nvPr/>
        </p:nvSpPr>
        <p:spPr>
          <a:xfrm>
            <a:off x="8458200" y="4800600"/>
            <a:ext cx="347472" cy="347472"/>
          </a:xfrm>
          <a:prstGeom prst="ellipse">
            <a:avLst/>
          </a:prstGeom>
          <a:solidFill>
            <a:srgbClr val="D92D20"/>
          </a:solidFill>
          <a:ln/>
        </p:spPr>
      </p:sp>
      <p:sp>
        <p:nvSpPr>
          <p:cNvPr id="14" name="Text 11"/>
          <p:cNvSpPr/>
          <p:nvPr/>
        </p:nvSpPr>
        <p:spPr>
          <a:xfrm>
            <a:off x="8458200" y="4800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8942832" y="47640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Counted in scope</a:t>
            </a:r>
            <a:endParaRPr lang="en-US" sz="1500" dirty="0"/>
          </a:p>
        </p:txBody>
      </p:sp>
      <p:sp>
        <p:nvSpPr>
          <p:cNvPr id="16" name="Text 13"/>
          <p:cNvSpPr/>
          <p:nvPr/>
        </p:nvSpPr>
        <p:spPr>
          <a:xfrm>
            <a:off x="8458200" y="50932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Learners inside a filter are counted from the join rows — the dex-wide column would answer a different question.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Notes — the written record</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Every note across every Pokémon, in one filterable feed.</a:t>
            </a:r>
            <a:endParaRPr lang="en-US" sz="1400" dirty="0"/>
          </a:p>
        </p:txBody>
      </p:sp>
      <p:pic>
        <p:nvPicPr>
          <p:cNvPr id="4" name="Image 0" descr="preencoded.png">    </p:cNvPr>
          <p:cNvPicPr>
            <a:picLocks noChangeAspect="1"/>
          </p:cNvPicPr>
          <p:nvPr/>
        </p:nvPicPr>
        <p:blipFill>
          <a:blip r:embed="rId1"/>
          <a:stretch>
            <a:fillRect/>
          </a:stretch>
        </p:blipFill>
        <p:spPr>
          <a:xfrm>
            <a:off x="957507" y="1463040"/>
            <a:ext cx="6771785" cy="4937760"/>
          </a:xfrm>
          <a:prstGeom prst="rect">
            <a:avLst/>
          </a:prstGeom>
          <a:effectLst>
            <a:outerShdw sx="100000" sy="100000" kx="0" ky="0" algn="bl" rotWithShape="0" blurRad="177800" dist="38100" dir="5400000">
              <a:srgbClr val="000000">
                <a:alpha val="18000"/>
              </a:srgbClr>
            </a:outerShdw>
          </a:effectLst>
        </p:spPr>
      </p:pic>
      <p:sp>
        <p:nvSpPr>
          <p:cNvPr id="5" name="Shape 2"/>
          <p:cNvSpPr/>
          <p:nvPr/>
        </p:nvSpPr>
        <p:spPr>
          <a:xfrm>
            <a:off x="8458200" y="1600200"/>
            <a:ext cx="347472" cy="347472"/>
          </a:xfrm>
          <a:prstGeom prst="ellipse">
            <a:avLst/>
          </a:prstGeom>
          <a:solidFill>
            <a:srgbClr val="D92D20"/>
          </a:solidFill>
          <a:ln/>
        </p:spPr>
      </p:sp>
      <p:sp>
        <p:nvSpPr>
          <p:cNvPr id="6" name="Text 3"/>
          <p:cNvSpPr/>
          <p:nvPr/>
        </p:nvSpPr>
        <p:spPr>
          <a:xfrm>
            <a:off x="8458200" y="1600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8942832" y="15636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Written where the work is</a:t>
            </a:r>
            <a:endParaRPr lang="en-US" sz="1500" dirty="0"/>
          </a:p>
        </p:txBody>
      </p:sp>
      <p:sp>
        <p:nvSpPr>
          <p:cNvPr id="8" name="Text 5"/>
          <p:cNvSpPr/>
          <p:nvPr/>
        </p:nvSpPr>
        <p:spPr>
          <a:xfrm>
            <a:off x="8458200" y="18928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Notes are composed on a Pokémon's profile; this page is the cross-collection view of them.</a:t>
            </a:r>
            <a:endParaRPr lang="en-US" sz="1250" dirty="0"/>
          </a:p>
        </p:txBody>
      </p:sp>
      <p:sp>
        <p:nvSpPr>
          <p:cNvPr id="9" name="Shape 6"/>
          <p:cNvSpPr/>
          <p:nvPr/>
        </p:nvSpPr>
        <p:spPr>
          <a:xfrm>
            <a:off x="8458200" y="3200400"/>
            <a:ext cx="347472" cy="347472"/>
          </a:xfrm>
          <a:prstGeom prst="ellipse">
            <a:avLst/>
          </a:prstGeom>
          <a:solidFill>
            <a:srgbClr val="D92D20"/>
          </a:solidFill>
          <a:ln/>
        </p:spPr>
      </p:sp>
      <p:sp>
        <p:nvSpPr>
          <p:cNvPr id="10" name="Text 7"/>
          <p:cNvSpPr/>
          <p:nvPr/>
        </p:nvSpPr>
        <p:spPr>
          <a:xfrm>
            <a:off x="8458200" y="32004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8942832" y="31638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Attributed to a person</a:t>
            </a:r>
            <a:endParaRPr lang="en-US" sz="1500" dirty="0"/>
          </a:p>
        </p:txBody>
      </p:sp>
      <p:sp>
        <p:nvSpPr>
          <p:cNvPr id="12" name="Text 9"/>
          <p:cNvSpPr/>
          <p:nvPr/>
        </p:nvSpPr>
        <p:spPr>
          <a:xfrm>
            <a:off x="8458200" y="34930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Every note carries its author, and “only mine” narrows the feed to whoever the app is acting as.</a:t>
            </a:r>
            <a:endParaRPr lang="en-US" sz="1250" dirty="0"/>
          </a:p>
        </p:txBody>
      </p:sp>
      <p:sp>
        <p:nvSpPr>
          <p:cNvPr id="13" name="Shape 10"/>
          <p:cNvSpPr/>
          <p:nvPr/>
        </p:nvSpPr>
        <p:spPr>
          <a:xfrm>
            <a:off x="8458200" y="4800600"/>
            <a:ext cx="347472" cy="347472"/>
          </a:xfrm>
          <a:prstGeom prst="ellipse">
            <a:avLst/>
          </a:prstGeom>
          <a:solidFill>
            <a:srgbClr val="D92D20"/>
          </a:solidFill>
          <a:ln/>
        </p:spPr>
      </p:sp>
      <p:sp>
        <p:nvSpPr>
          <p:cNvPr id="14" name="Text 11"/>
          <p:cNvSpPr/>
          <p:nvPr/>
        </p:nvSpPr>
        <p:spPr>
          <a:xfrm>
            <a:off x="8458200" y="4800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8942832" y="47640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Scoped by trainer</a:t>
            </a:r>
            <a:endParaRPr lang="en-US" sz="1500" dirty="0"/>
          </a:p>
        </p:txBody>
      </p:sp>
      <p:sp>
        <p:nvSpPr>
          <p:cNvPr id="16" name="Text 13"/>
          <p:cNvSpPr/>
          <p:nvPr/>
        </p:nvSpPr>
        <p:spPr>
          <a:xfrm>
            <a:off x="8458200" y="50932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There is no trainer column — the filter joins through the roster, so a caseload's history is derived, not duplicated.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Activity — one table, three views</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Caught, favorite, wishlist, flagged, reviewed — toggled on a profile, audited here.</a:t>
            </a:r>
            <a:endParaRPr lang="en-US" sz="1400" dirty="0"/>
          </a:p>
        </p:txBody>
      </p:sp>
      <p:pic>
        <p:nvPicPr>
          <p:cNvPr id="4" name="Image 0" descr="preencoded.png">    </p:cNvPr>
          <p:cNvPicPr>
            <a:picLocks noChangeAspect="1"/>
          </p:cNvPicPr>
          <p:nvPr/>
        </p:nvPicPr>
        <p:blipFill>
          <a:blip r:embed="rId1"/>
          <a:stretch>
            <a:fillRect/>
          </a:stretch>
        </p:blipFill>
        <p:spPr>
          <a:xfrm>
            <a:off x="957507" y="1463040"/>
            <a:ext cx="6771785" cy="4937760"/>
          </a:xfrm>
          <a:prstGeom prst="rect">
            <a:avLst/>
          </a:prstGeom>
          <a:effectLst>
            <a:outerShdw sx="100000" sy="100000" kx="0" ky="0" algn="bl" rotWithShape="0" blurRad="177800" dist="38100" dir="5400000">
              <a:srgbClr val="000000">
                <a:alpha val="18000"/>
              </a:srgbClr>
            </a:outerShdw>
          </a:effectLst>
        </p:spPr>
      </p:pic>
      <p:sp>
        <p:nvSpPr>
          <p:cNvPr id="5" name="Shape 2"/>
          <p:cNvSpPr/>
          <p:nvPr/>
        </p:nvSpPr>
        <p:spPr>
          <a:xfrm>
            <a:off x="8458200" y="1600200"/>
            <a:ext cx="347472" cy="347472"/>
          </a:xfrm>
          <a:prstGeom prst="ellipse">
            <a:avLst/>
          </a:prstGeom>
          <a:solidFill>
            <a:srgbClr val="D92D20"/>
          </a:solidFill>
          <a:ln/>
        </p:spPr>
      </p:sp>
      <p:sp>
        <p:nvSpPr>
          <p:cNvPr id="6" name="Text 3"/>
          <p:cNvSpPr/>
          <p:nvPr/>
        </p:nvSpPr>
        <p:spPr>
          <a:xfrm>
            <a:off x="8458200" y="1600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8942832" y="15636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Toggles are the trail</a:t>
            </a:r>
            <a:endParaRPr lang="en-US" sz="1500" dirty="0"/>
          </a:p>
        </p:txBody>
      </p:sp>
      <p:sp>
        <p:nvSpPr>
          <p:cNvPr id="8" name="Text 5"/>
          <p:cNvSpPr/>
          <p:nvPr/>
        </p:nvSpPr>
        <p:spPr>
          <a:xfrm>
            <a:off x="8458200" y="18928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Setting a flag inserts a row and clearing it deletes one, so removing a log entry is clearing the flag.</a:t>
            </a:r>
            <a:endParaRPr lang="en-US" sz="1250" dirty="0"/>
          </a:p>
        </p:txBody>
      </p:sp>
      <p:sp>
        <p:nvSpPr>
          <p:cNvPr id="9" name="Shape 6"/>
          <p:cNvSpPr/>
          <p:nvPr/>
        </p:nvSpPr>
        <p:spPr>
          <a:xfrm>
            <a:off x="8458200" y="3200400"/>
            <a:ext cx="347472" cy="347472"/>
          </a:xfrm>
          <a:prstGeom prst="ellipse">
            <a:avLst/>
          </a:prstGeom>
          <a:solidFill>
            <a:srgbClr val="D92D20"/>
          </a:solidFill>
          <a:ln/>
        </p:spPr>
      </p:sp>
      <p:sp>
        <p:nvSpPr>
          <p:cNvPr id="10" name="Text 7"/>
          <p:cNvSpPr/>
          <p:nvPr/>
        </p:nvSpPr>
        <p:spPr>
          <a:xfrm>
            <a:off x="8458200" y="32004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8942832" y="31638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Reviewed is the exception</a:t>
            </a:r>
            <a:endParaRPr lang="en-US" sz="1500" dirty="0"/>
          </a:p>
        </p:txBody>
      </p:sp>
      <p:sp>
        <p:nvSpPr>
          <p:cNvPr id="12" name="Text 9"/>
          <p:cNvSpPr/>
          <p:nvPr/>
        </p:nvSpPr>
        <p:spPr>
          <a:xfrm>
            <a:off x="8458200" y="34930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Re-posting it bumps the timestamp instead of clearing it — which is what the stale-review signal reads.</a:t>
            </a:r>
            <a:endParaRPr lang="en-US" sz="1250" dirty="0"/>
          </a:p>
        </p:txBody>
      </p:sp>
      <p:sp>
        <p:nvSpPr>
          <p:cNvPr id="13" name="Shape 10"/>
          <p:cNvSpPr/>
          <p:nvPr/>
        </p:nvSpPr>
        <p:spPr>
          <a:xfrm>
            <a:off x="8458200" y="4800600"/>
            <a:ext cx="347472" cy="347472"/>
          </a:xfrm>
          <a:prstGeom prst="ellipse">
            <a:avLst/>
          </a:prstGeom>
          <a:solidFill>
            <a:srgbClr val="D92D20"/>
          </a:solidFill>
          <a:ln/>
        </p:spPr>
      </p:sp>
      <p:sp>
        <p:nvSpPr>
          <p:cNvPr id="14" name="Text 11"/>
          <p:cNvSpPr/>
          <p:nvPr/>
        </p:nvSpPr>
        <p:spPr>
          <a:xfrm>
            <a:off x="8458200" y="4800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8942832" y="4764024"/>
            <a:ext cx="2834640" cy="347472"/>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Tiles stay put</a:t>
            </a:r>
            <a:endParaRPr lang="en-US" sz="1500" dirty="0"/>
          </a:p>
        </p:txBody>
      </p:sp>
      <p:sp>
        <p:nvSpPr>
          <p:cNvPr id="16" name="Text 13"/>
          <p:cNvSpPr/>
          <p:nvPr/>
        </p:nvSpPr>
        <p:spPr>
          <a:xfrm>
            <a:off x="8458200" y="5093208"/>
            <a:ext cx="3291840" cy="96012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The summary counts are deliberately unfiltered, so they don't shift while you filter the table beneath them.</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4F4F2"/>
        </a:solidFill>
      </p:bgPr>
    </p:bg>
    <p:spTree>
      <p:nvGrpSpPr>
        <p:cNvPr id="1" name=""/>
        <p:cNvGrpSpPr/>
        <p:nvPr/>
      </p:nvGrpSpPr>
      <p:grpSpPr>
        <a:xfrm>
          <a:off x="0" y="0"/>
          <a:ext cx="0" cy="0"/>
          <a:chOff x="0" y="0"/>
          <a:chExt cx="0" cy="0"/>
        </a:xfrm>
      </p:grpSpPr>
      <p:sp>
        <p:nvSpPr>
          <p:cNvPr id="2" name="Text 0"/>
          <p:cNvSpPr/>
          <p:nvPr/>
        </p:nvSpPr>
        <p:spPr>
          <a:xfrm>
            <a:off x="548640" y="384048"/>
            <a:ext cx="7863840"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Tableau — the same story, elsewhere</a:t>
            </a:r>
            <a:endParaRPr lang="en-US" sz="3000" dirty="0"/>
          </a:p>
        </p:txBody>
      </p:sp>
      <p:sp>
        <p:nvSpPr>
          <p:cNvPr id="3" name="Text 1"/>
          <p:cNvSpPr/>
          <p:nvPr/>
        </p:nvSpPr>
        <p:spPr>
          <a:xfrm>
            <a:off x="548640" y="950976"/>
            <a:ext cx="8778240" cy="3657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A published Tableau Public workbook, embedded beside the app's own charts.</a:t>
            </a:r>
            <a:endParaRPr lang="en-US" sz="1400" dirty="0"/>
          </a:p>
        </p:txBody>
      </p:sp>
      <p:pic>
        <p:nvPicPr>
          <p:cNvPr id="4" name="Image 0" descr="preencoded.png">    </p:cNvPr>
          <p:cNvPicPr>
            <a:picLocks noChangeAspect="1"/>
          </p:cNvPicPr>
          <p:nvPr/>
        </p:nvPicPr>
        <p:blipFill>
          <a:blip r:embed="rId1"/>
          <a:stretch>
            <a:fillRect/>
          </a:stretch>
        </p:blipFill>
        <p:spPr>
          <a:xfrm>
            <a:off x="3008376" y="1536192"/>
            <a:ext cx="6144768" cy="4480560"/>
          </a:xfrm>
          <a:prstGeom prst="rect">
            <a:avLst/>
          </a:prstGeom>
          <a:effectLst>
            <a:outerShdw sx="100000" sy="100000" kx="0" ky="0" algn="bl" rotWithShape="0" blurRad="177800" dist="38100" dir="5400000">
              <a:srgbClr val="000000">
                <a:alpha val="18000"/>
              </a:srgbClr>
            </a:outerShdw>
          </a:effectLst>
        </p:spPr>
      </p:pic>
      <p:sp>
        <p:nvSpPr>
          <p:cNvPr id="5" name="Text 2"/>
          <p:cNvSpPr/>
          <p:nvPr/>
        </p:nvSpPr>
        <p:spPr>
          <a:xfrm>
            <a:off x="548640" y="6144768"/>
            <a:ext cx="11064240" cy="365760"/>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Embedding API v3, with the viz element created imperatively so React never owns it — and the one page in the app not backed by the CRM database.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Pokémon CRM — demonstration</dc:title>
  <dc:subject>PptxGenJS Presentation</dc:subject>
  <dc:creator>Pokémon CRM</dc:creator>
  <cp:lastModifiedBy>Pokémon CRM</cp:lastModifiedBy>
  <cp:revision>1</cp:revision>
  <dcterms:created xsi:type="dcterms:W3CDTF">2026-08-12T11:35:09Z</dcterms:created>
  <dcterms:modified xsi:type="dcterms:W3CDTF">2026-08-12T11:35:09Z</dcterms:modified>
</cp:coreProperties>
</file>
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Pokémon CRM is a learning sandbox that borrows the shape of a student-advising CRM. Everything is real: 1,025 Pokémon seeded from PokeAPI into Postgres, a full Express API, and eight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is what makes the sandbox useful — every feature has a real advising counterpart. Evolution chains as a degree plan is the one that unlocked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queue turns the app from something you browse into something that tells you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live in one constants file. Because the same numbers produce the score and the reason text, they cannot disagree. The pace assumption is disclosed in the API response and printed under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mixed-up version of these tiles shipped once — "5 active" beside a mean computed over 6. Now everything filters retired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HTML5 drag events — four fixed targets, no reordering within a column, which is exactly the case native DnD handles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Bulk flag actions set an explicit target state rather than toggling — toggling a mixed selection would leave it inconsistent.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541 evolution chains fetched once each and walked into per-species facts. Chain length is the deepest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dual-axis charts anywhere: two measures on different scales become two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1,025 records the palette is the biggest usability win per line of code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backlog is mostly PokeAPI data the seed already fetches and throws away, plus test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710"/>
        </a:solidFill>
      </p:bgPr>
    </p:bg>
    <p:spTree>
      <p:nvGrpSpPr>
        <p:cNvPr id="1" name=""/>
        <p:cNvGrpSpPr/>
        <p:nvPr/>
      </p:nvGrpSpPr>
      <p:grpSpPr>
        <a:xfrm>
          <a:off x="0" y="0"/>
          <a:ext cx="0" cy="0"/>
          <a:chOff x="0" y="0"/>
          <a:chExt cx="0" cy="0"/>
        </a:xfrm>
      </p:grpSpPr>
      <p:sp>
        <p:nvSpPr>
          <p:cNvPr id="2" name="Shape 0"/>
          <p:cNvSpPr/>
          <p:nvPr/>
        </p:nvSpPr>
        <p:spPr>
          <a:xfrm>
            <a:off x="777240" y="1371600"/>
            <a:ext cx="841248" cy="841248"/>
          </a:xfrm>
          <a:prstGeom prst="roundRect">
            <a:avLst>
              <a:gd name="adj" fmla="val 23913"/>
            </a:avLst>
          </a:prstGeom>
          <a:solidFill>
            <a:srgbClr val="D92D20"/>
          </a:solidFill>
          <a:ln/>
        </p:spPr>
      </p:sp>
      <p:sp>
        <p:nvSpPr>
          <p:cNvPr id="3" name="Text 1"/>
          <p:cNvSpPr/>
          <p:nvPr/>
        </p:nvSpPr>
        <p:spPr>
          <a:xfrm>
            <a:off x="777240" y="1371600"/>
            <a:ext cx="841248" cy="841248"/>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a:t>
            </a:r>
            <a:endParaRPr lang="en-US" sz="4000" dirty="0"/>
          </a:p>
        </p:txBody>
      </p:sp>
      <p:sp>
        <p:nvSpPr>
          <p:cNvPr id="4" name="Text 2"/>
          <p:cNvSpPr/>
          <p:nvPr/>
        </p:nvSpPr>
        <p:spPr>
          <a:xfrm>
            <a:off x="777240" y="2423160"/>
            <a:ext cx="10058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Pokémon CRM</a:t>
            </a:r>
            <a:endParaRPr lang="en-US" sz="5400" dirty="0"/>
          </a:p>
        </p:txBody>
      </p:sp>
      <p:sp>
        <p:nvSpPr>
          <p:cNvPr id="5" name="Text 3"/>
          <p:cNvSpPr/>
          <p:nvPr/>
        </p:nvSpPr>
        <p:spPr>
          <a:xfrm>
            <a:off x="777240" y="3337560"/>
            <a:ext cx="10058400" cy="457200"/>
          </a:xfrm>
          <a:prstGeom prst="rect">
            <a:avLst/>
          </a:prstGeom>
          <a:noFill/>
          <a:ln/>
        </p:spPr>
        <p:txBody>
          <a:bodyPr wrap="square" lIns="0" tIns="0" rIns="0" bIns="0" rtlCol="0" anchor="ctr"/>
          <a:lstStyle/>
          <a:p>
            <a:pPr indent="0" marL="0">
              <a:buNone/>
            </a:pPr>
            <a:r>
              <a:rPr lang="en-US" sz="2000" dirty="0">
                <a:solidFill>
                  <a:srgbClr val="F3C9C4"/>
                </a:solidFill>
                <a:latin typeface="Calibri" pitchFamily="34" charset="0"/>
                <a:ea typeface="Calibri" pitchFamily="34" charset="-122"/>
                <a:cs typeface="Calibri" pitchFamily="34" charset="-120"/>
              </a:rPr>
              <a:t>An advising-style CRM, built on the National Pokédex</a:t>
            </a:r>
            <a:endParaRPr lang="en-US" sz="2000" dirty="0"/>
          </a:p>
        </p:txBody>
      </p:sp>
      <p:sp>
        <p:nvSpPr>
          <p:cNvPr id="6" name="Text 4"/>
          <p:cNvSpPr/>
          <p:nvPr/>
        </p:nvSpPr>
        <p:spPr>
          <a:xfrm>
            <a:off x="777240" y="4343400"/>
            <a:ext cx="21031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1,025</a:t>
            </a:r>
            <a:endParaRPr lang="en-US" sz="3400" dirty="0"/>
          </a:p>
        </p:txBody>
      </p:sp>
      <p:sp>
        <p:nvSpPr>
          <p:cNvPr id="7" name="Text 5"/>
          <p:cNvSpPr/>
          <p:nvPr/>
        </p:nvSpPr>
        <p:spPr>
          <a:xfrm>
            <a:off x="777240" y="4956048"/>
            <a:ext cx="2103120" cy="320040"/>
          </a:xfrm>
          <a:prstGeom prst="rect">
            <a:avLst/>
          </a:prstGeom>
          <a:noFill/>
          <a:ln/>
        </p:spPr>
        <p:txBody>
          <a:bodyPr wrap="square" lIns="0" tIns="0" rIns="0" bIns="0" rtlCol="0" anchor="ctr"/>
          <a:lstStyle/>
          <a:p>
            <a:pPr indent="0" marL="0">
              <a:buNone/>
            </a:pPr>
            <a:r>
              <a:rPr lang="en-US" sz="1200" dirty="0">
                <a:solidFill>
                  <a:srgbClr val="E9A8A1"/>
                </a:solidFill>
                <a:latin typeface="Calibri" pitchFamily="34" charset="0"/>
                <a:ea typeface="Calibri" pitchFamily="34" charset="-122"/>
                <a:cs typeface="Calibri" pitchFamily="34" charset="-120"/>
              </a:rPr>
              <a:t>Pokémon seeded</a:t>
            </a:r>
            <a:endParaRPr lang="en-US" sz="1200" dirty="0"/>
          </a:p>
        </p:txBody>
      </p:sp>
      <p:sp>
        <p:nvSpPr>
          <p:cNvPr id="8" name="Text 6"/>
          <p:cNvSpPr/>
          <p:nvPr/>
        </p:nvSpPr>
        <p:spPr>
          <a:xfrm>
            <a:off x="3154680" y="4343400"/>
            <a:ext cx="21031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a:t>
            </a:r>
            <a:endParaRPr lang="en-US" sz="3400" dirty="0"/>
          </a:p>
        </p:txBody>
      </p:sp>
      <p:sp>
        <p:nvSpPr>
          <p:cNvPr id="9" name="Text 7"/>
          <p:cNvSpPr/>
          <p:nvPr/>
        </p:nvSpPr>
        <p:spPr>
          <a:xfrm>
            <a:off x="3154680" y="4956048"/>
            <a:ext cx="2103120" cy="320040"/>
          </a:xfrm>
          <a:prstGeom prst="rect">
            <a:avLst/>
          </a:prstGeom>
          <a:noFill/>
          <a:ln/>
        </p:spPr>
        <p:txBody>
          <a:bodyPr wrap="square" lIns="0" tIns="0" rIns="0" bIns="0" rtlCol="0" anchor="ctr"/>
          <a:lstStyle/>
          <a:p>
            <a:pPr indent="0" marL="0">
              <a:buNone/>
            </a:pPr>
            <a:r>
              <a:rPr lang="en-US" sz="1200" dirty="0">
                <a:solidFill>
                  <a:srgbClr val="E9A8A1"/>
                </a:solidFill>
                <a:latin typeface="Calibri" pitchFamily="34" charset="0"/>
                <a:ea typeface="Calibri" pitchFamily="34" charset="-122"/>
                <a:cs typeface="Calibri" pitchFamily="34" charset="-120"/>
              </a:rPr>
              <a:t>pages</a:t>
            </a:r>
            <a:endParaRPr lang="en-US" sz="1200" dirty="0"/>
          </a:p>
        </p:txBody>
      </p:sp>
      <p:sp>
        <p:nvSpPr>
          <p:cNvPr id="10" name="Text 8"/>
          <p:cNvSpPr/>
          <p:nvPr/>
        </p:nvSpPr>
        <p:spPr>
          <a:xfrm>
            <a:off x="5532120" y="4343400"/>
            <a:ext cx="21031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sp>
        <p:nvSpPr>
          <p:cNvPr id="11" name="Text 9"/>
          <p:cNvSpPr/>
          <p:nvPr/>
        </p:nvSpPr>
        <p:spPr>
          <a:xfrm>
            <a:off x="5532120" y="4956048"/>
            <a:ext cx="2103120" cy="320040"/>
          </a:xfrm>
          <a:prstGeom prst="rect">
            <a:avLst/>
          </a:prstGeom>
          <a:noFill/>
          <a:ln/>
        </p:spPr>
        <p:txBody>
          <a:bodyPr wrap="square" lIns="0" tIns="0" rIns="0" bIns="0" rtlCol="0" anchor="ctr"/>
          <a:lstStyle/>
          <a:p>
            <a:pPr indent="0" marL="0">
              <a:buNone/>
            </a:pPr>
            <a:r>
              <a:rPr lang="en-US" sz="1200" dirty="0">
                <a:solidFill>
                  <a:srgbClr val="E9A8A1"/>
                </a:solidFill>
                <a:latin typeface="Calibri" pitchFamily="34" charset="0"/>
                <a:ea typeface="Calibri" pitchFamily="34" charset="-122"/>
                <a:cs typeface="Calibri" pitchFamily="34" charset="-120"/>
              </a:rPr>
              <a:t>tables</a:t>
            </a:r>
            <a:endParaRPr lang="en-US" sz="1200" dirty="0"/>
          </a:p>
        </p:txBody>
      </p:sp>
      <p:sp>
        <p:nvSpPr>
          <p:cNvPr id="12" name="Text 10"/>
          <p:cNvSpPr/>
          <p:nvPr/>
        </p:nvSpPr>
        <p:spPr>
          <a:xfrm>
            <a:off x="7909560" y="4343400"/>
            <a:ext cx="21031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24</a:t>
            </a:r>
            <a:endParaRPr lang="en-US" sz="3400" dirty="0"/>
          </a:p>
        </p:txBody>
      </p:sp>
      <p:sp>
        <p:nvSpPr>
          <p:cNvPr id="13" name="Text 11"/>
          <p:cNvSpPr/>
          <p:nvPr/>
        </p:nvSpPr>
        <p:spPr>
          <a:xfrm>
            <a:off x="7909560" y="4956048"/>
            <a:ext cx="2103120" cy="320040"/>
          </a:xfrm>
          <a:prstGeom prst="rect">
            <a:avLst/>
          </a:prstGeom>
          <a:noFill/>
          <a:ln/>
        </p:spPr>
        <p:txBody>
          <a:bodyPr wrap="square" lIns="0" tIns="0" rIns="0" bIns="0" rtlCol="0" anchor="ctr"/>
          <a:lstStyle/>
          <a:p>
            <a:pPr indent="0" marL="0">
              <a:buNone/>
            </a:pPr>
            <a:r>
              <a:rPr lang="en-US" sz="1200" dirty="0">
                <a:solidFill>
                  <a:srgbClr val="E9A8A1"/>
                </a:solidFill>
                <a:latin typeface="Calibri" pitchFamily="34" charset="0"/>
                <a:ea typeface="Calibri" pitchFamily="34" charset="-122"/>
                <a:cs typeface="Calibri" pitchFamily="34" charset="-120"/>
              </a:rPr>
              <a:t>API endpoints</a:t>
            </a:r>
            <a:endParaRPr lang="en-US" sz="1200" dirty="0"/>
          </a:p>
        </p:txBody>
      </p:sp>
      <p:sp>
        <p:nvSpPr>
          <p:cNvPr id="14" name="Text 12"/>
          <p:cNvSpPr/>
          <p:nvPr/>
        </p:nvSpPr>
        <p:spPr>
          <a:xfrm>
            <a:off x="777240" y="6035040"/>
            <a:ext cx="10607040" cy="320040"/>
          </a:xfrm>
          <a:prstGeom prst="rect">
            <a:avLst/>
          </a:prstGeom>
          <a:noFill/>
          <a:ln/>
        </p:spPr>
        <p:txBody>
          <a:bodyPr wrap="square" lIns="0" tIns="0" rIns="0" bIns="0" rtlCol="0" anchor="ctr"/>
          <a:lstStyle/>
          <a:p>
            <a:pPr indent="0" marL="0">
              <a:buNone/>
            </a:pPr>
            <a:r>
              <a:rPr lang="en-US" sz="1100" dirty="0">
                <a:solidFill>
                  <a:srgbClr val="C98B84"/>
                </a:solidFill>
                <a:latin typeface="Calibri" pitchFamily="34" charset="0"/>
                <a:ea typeface="Calibri" pitchFamily="34" charset="-122"/>
                <a:cs typeface="Calibri" pitchFamily="34" charset="-120"/>
              </a:rPr>
              <a:t>Vite · React · TypeScript · Tailwind · Express · Drizzle · PostgreSQL · Recharts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analogy</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Every CRM concept maps onto something in the Pokémon domain.</a:t>
            </a:r>
            <a:endParaRPr lang="en-US" sz="1400" dirty="0"/>
          </a:p>
        </p:txBody>
      </p:sp>
      <p:sp>
        <p:nvSpPr>
          <p:cNvPr id="4" name="Shape 2"/>
          <p:cNvSpPr/>
          <p:nvPr/>
        </p:nvSpPr>
        <p:spPr>
          <a:xfrm>
            <a:off x="548640" y="1691640"/>
            <a:ext cx="3429000" cy="2514600"/>
          </a:xfrm>
          <a:prstGeom prst="roundRect">
            <a:avLst>
              <a:gd name="adj" fmla="val 3636"/>
            </a:avLst>
          </a:prstGeom>
          <a:solidFill>
            <a:srgbClr val="F4F4F2"/>
          </a:solidFill>
          <a:ln w="12700">
            <a:solidFill>
              <a:srgbClr val="E1E0D9"/>
            </a:solidFill>
            <a:prstDash val="solid"/>
          </a:ln>
        </p:spPr>
      </p:sp>
      <p:sp>
        <p:nvSpPr>
          <p:cNvPr id="5" name="Shape 3"/>
          <p:cNvSpPr/>
          <p:nvPr/>
        </p:nvSpPr>
        <p:spPr>
          <a:xfrm>
            <a:off x="841248" y="1965960"/>
            <a:ext cx="384048" cy="384048"/>
          </a:xfrm>
          <a:prstGeom prst="ellipse">
            <a:avLst/>
          </a:prstGeom>
          <a:solidFill>
            <a:srgbClr val="D92D20"/>
          </a:solidFill>
          <a:ln/>
        </p:spPr>
      </p:sp>
      <p:sp>
        <p:nvSpPr>
          <p:cNvPr id="6" name="Text 4"/>
          <p:cNvSpPr/>
          <p:nvPr/>
        </p:nvSpPr>
        <p:spPr>
          <a:xfrm>
            <a:off x="841248"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417320" y="1938528"/>
            <a:ext cx="2377440" cy="384048"/>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Trainer</a:t>
            </a:r>
            <a:endParaRPr lang="en-US" sz="2100" dirty="0"/>
          </a:p>
        </p:txBody>
      </p:sp>
      <p:sp>
        <p:nvSpPr>
          <p:cNvPr id="8" name="Text 6"/>
          <p:cNvSpPr/>
          <p:nvPr/>
        </p:nvSpPr>
        <p:spPr>
          <a:xfrm>
            <a:off x="841248" y="2432304"/>
            <a:ext cx="2834640" cy="320040"/>
          </a:xfrm>
          <a:prstGeom prst="rect">
            <a:avLst/>
          </a:prstGeom>
          <a:noFill/>
          <a:ln/>
        </p:spPr>
        <p:txBody>
          <a:bodyPr wrap="square" lIns="0" tIns="0" rIns="0" bIns="0" rtlCol="0" anchor="ctr"/>
          <a:lstStyle/>
          <a:p>
            <a:pPr indent="0" marL="0">
              <a:buNone/>
            </a:pPr>
            <a:r>
              <a:rPr lang="en-US" sz="1400" i="1" dirty="0">
                <a:solidFill>
                  <a:srgbClr val="B42318"/>
                </a:solidFill>
                <a:latin typeface="Calibri" pitchFamily="34" charset="0"/>
                <a:ea typeface="Calibri" pitchFamily="34" charset="-122"/>
                <a:cs typeface="Calibri" pitchFamily="34" charset="-120"/>
              </a:rPr>
              <a:t>the advisor</a:t>
            </a:r>
            <a:endParaRPr lang="en-US" sz="1400" dirty="0"/>
          </a:p>
        </p:txBody>
      </p:sp>
      <p:sp>
        <p:nvSpPr>
          <p:cNvPr id="9" name="Text 7"/>
          <p:cNvSpPr/>
          <p:nvPr/>
        </p:nvSpPr>
        <p:spPr>
          <a:xfrm>
            <a:off x="841248" y="2816352"/>
            <a:ext cx="2834640" cy="109728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Owns a roster. Has a region and a specialty, like a department.</a:t>
            </a:r>
            <a:endParaRPr lang="en-US" sz="1300" dirty="0"/>
          </a:p>
        </p:txBody>
      </p:sp>
      <p:sp>
        <p:nvSpPr>
          <p:cNvPr id="10" name="Shape 8"/>
          <p:cNvSpPr/>
          <p:nvPr/>
        </p:nvSpPr>
        <p:spPr>
          <a:xfrm>
            <a:off x="4343400" y="1691640"/>
            <a:ext cx="3429000" cy="2514600"/>
          </a:xfrm>
          <a:prstGeom prst="roundRect">
            <a:avLst>
              <a:gd name="adj" fmla="val 3636"/>
            </a:avLst>
          </a:prstGeom>
          <a:solidFill>
            <a:srgbClr val="F4F4F2"/>
          </a:solidFill>
          <a:ln w="12700">
            <a:solidFill>
              <a:srgbClr val="E1E0D9"/>
            </a:solidFill>
            <a:prstDash val="solid"/>
          </a:ln>
        </p:spPr>
      </p:sp>
      <p:sp>
        <p:nvSpPr>
          <p:cNvPr id="11" name="Shape 9"/>
          <p:cNvSpPr/>
          <p:nvPr/>
        </p:nvSpPr>
        <p:spPr>
          <a:xfrm>
            <a:off x="4636008" y="1965960"/>
            <a:ext cx="384048" cy="384048"/>
          </a:xfrm>
          <a:prstGeom prst="ellipse">
            <a:avLst/>
          </a:prstGeom>
          <a:solidFill>
            <a:srgbClr val="D92D20"/>
          </a:solidFill>
          <a:ln/>
        </p:spPr>
      </p:sp>
      <p:sp>
        <p:nvSpPr>
          <p:cNvPr id="12" name="Text 10"/>
          <p:cNvSpPr/>
          <p:nvPr/>
        </p:nvSpPr>
        <p:spPr>
          <a:xfrm>
            <a:off x="4636008"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212080" y="1938528"/>
            <a:ext cx="2377440" cy="384048"/>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Roster</a:t>
            </a:r>
            <a:endParaRPr lang="en-US" sz="2100" dirty="0"/>
          </a:p>
        </p:txBody>
      </p:sp>
      <p:sp>
        <p:nvSpPr>
          <p:cNvPr id="14" name="Text 12"/>
          <p:cNvSpPr/>
          <p:nvPr/>
        </p:nvSpPr>
        <p:spPr>
          <a:xfrm>
            <a:off x="4636008" y="2432304"/>
            <a:ext cx="2834640" cy="320040"/>
          </a:xfrm>
          <a:prstGeom prst="rect">
            <a:avLst/>
          </a:prstGeom>
          <a:noFill/>
          <a:ln/>
        </p:spPr>
        <p:txBody>
          <a:bodyPr wrap="square" lIns="0" tIns="0" rIns="0" bIns="0" rtlCol="0" anchor="ctr"/>
          <a:lstStyle/>
          <a:p>
            <a:pPr indent="0" marL="0">
              <a:buNone/>
            </a:pPr>
            <a:r>
              <a:rPr lang="en-US" sz="1400" i="1" dirty="0">
                <a:solidFill>
                  <a:srgbClr val="B42318"/>
                </a:solidFill>
                <a:latin typeface="Calibri" pitchFamily="34" charset="0"/>
                <a:ea typeface="Calibri" pitchFamily="34" charset="-122"/>
                <a:cs typeface="Calibri" pitchFamily="34" charset="-120"/>
              </a:rPr>
              <a:t>the caseload</a:t>
            </a:r>
            <a:endParaRPr lang="en-US" sz="1400" dirty="0"/>
          </a:p>
        </p:txBody>
      </p:sp>
      <p:sp>
        <p:nvSpPr>
          <p:cNvPr id="15" name="Text 13"/>
          <p:cNvSpPr/>
          <p:nvPr/>
        </p:nvSpPr>
        <p:spPr>
          <a:xfrm>
            <a:off x="4636008" y="2816352"/>
            <a:ext cx="2834640" cy="109728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A many-to-many join. Members are starter, active, reserve, or retired.</a:t>
            </a:r>
            <a:endParaRPr lang="en-US" sz="1300" dirty="0"/>
          </a:p>
        </p:txBody>
      </p:sp>
      <p:sp>
        <p:nvSpPr>
          <p:cNvPr id="16" name="Shape 14"/>
          <p:cNvSpPr/>
          <p:nvPr/>
        </p:nvSpPr>
        <p:spPr>
          <a:xfrm>
            <a:off x="8138160" y="1691640"/>
            <a:ext cx="3429000" cy="2514600"/>
          </a:xfrm>
          <a:prstGeom prst="roundRect">
            <a:avLst>
              <a:gd name="adj" fmla="val 3636"/>
            </a:avLst>
          </a:prstGeom>
          <a:solidFill>
            <a:srgbClr val="F4F4F2"/>
          </a:solidFill>
          <a:ln w="12700">
            <a:solidFill>
              <a:srgbClr val="E1E0D9"/>
            </a:solidFill>
            <a:prstDash val="solid"/>
          </a:ln>
        </p:spPr>
      </p:sp>
      <p:sp>
        <p:nvSpPr>
          <p:cNvPr id="17" name="Shape 15"/>
          <p:cNvSpPr/>
          <p:nvPr/>
        </p:nvSpPr>
        <p:spPr>
          <a:xfrm>
            <a:off x="8430768" y="1965960"/>
            <a:ext cx="384048" cy="384048"/>
          </a:xfrm>
          <a:prstGeom prst="ellipse">
            <a:avLst/>
          </a:prstGeom>
          <a:solidFill>
            <a:srgbClr val="D92D20"/>
          </a:solidFill>
          <a:ln/>
        </p:spPr>
      </p:sp>
      <p:sp>
        <p:nvSpPr>
          <p:cNvPr id="18" name="Text 16"/>
          <p:cNvSpPr/>
          <p:nvPr/>
        </p:nvSpPr>
        <p:spPr>
          <a:xfrm>
            <a:off x="8430768"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9006840" y="1938528"/>
            <a:ext cx="2377440" cy="384048"/>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Pokémon</a:t>
            </a:r>
            <a:endParaRPr lang="en-US" sz="2100" dirty="0"/>
          </a:p>
        </p:txBody>
      </p:sp>
      <p:sp>
        <p:nvSpPr>
          <p:cNvPr id="20" name="Text 18"/>
          <p:cNvSpPr/>
          <p:nvPr/>
        </p:nvSpPr>
        <p:spPr>
          <a:xfrm>
            <a:off x="8430768" y="2432304"/>
            <a:ext cx="2834640" cy="320040"/>
          </a:xfrm>
          <a:prstGeom prst="rect">
            <a:avLst/>
          </a:prstGeom>
          <a:noFill/>
          <a:ln/>
        </p:spPr>
        <p:txBody>
          <a:bodyPr wrap="square" lIns="0" tIns="0" rIns="0" bIns="0" rtlCol="0" anchor="ctr"/>
          <a:lstStyle/>
          <a:p>
            <a:pPr indent="0" marL="0">
              <a:buNone/>
            </a:pPr>
            <a:r>
              <a:rPr lang="en-US" sz="1400" i="1" dirty="0">
                <a:solidFill>
                  <a:srgbClr val="B42318"/>
                </a:solidFill>
                <a:latin typeface="Calibri" pitchFamily="34" charset="0"/>
                <a:ea typeface="Calibri" pitchFamily="34" charset="-122"/>
                <a:cs typeface="Calibri" pitchFamily="34" charset="-120"/>
              </a:rPr>
              <a:t>the student</a:t>
            </a:r>
            <a:endParaRPr lang="en-US" sz="1400" dirty="0"/>
          </a:p>
        </p:txBody>
      </p:sp>
      <p:sp>
        <p:nvSpPr>
          <p:cNvPr id="21" name="Text 19"/>
          <p:cNvSpPr/>
          <p:nvPr/>
        </p:nvSpPr>
        <p:spPr>
          <a:xfrm>
            <a:off x="8430768" y="2816352"/>
            <a:ext cx="2834640" cy="109728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Carries notes, status flags, and progress toward a milestone.</a:t>
            </a:r>
            <a:endParaRPr lang="en-US" sz="1300" dirty="0"/>
          </a:p>
        </p:txBody>
      </p:sp>
      <p:sp>
        <p:nvSpPr>
          <p:cNvPr id="22" name="Shape 20"/>
          <p:cNvSpPr/>
          <p:nvPr/>
        </p:nvSpPr>
        <p:spPr>
          <a:xfrm>
            <a:off x="548640" y="4572000"/>
            <a:ext cx="11064240" cy="1417320"/>
          </a:xfrm>
          <a:prstGeom prst="roundRect">
            <a:avLst>
              <a:gd name="adj" fmla="val 6452"/>
            </a:avLst>
          </a:prstGeom>
          <a:solidFill>
            <a:srgbClr val="FDF0EF"/>
          </a:solidFill>
          <a:ln/>
        </p:spPr>
      </p:sp>
      <p:sp>
        <p:nvSpPr>
          <p:cNvPr id="23" name="Text 21"/>
          <p:cNvSpPr/>
          <p:nvPr/>
        </p:nvSpPr>
        <p:spPr>
          <a:xfrm>
            <a:off x="914400" y="4846320"/>
            <a:ext cx="10332720" cy="9144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Evolution chains are the degree plan. A chain is a programme of study: stage N of L is progress, and the level requirement for the next stage is a milestone somebody has to sign off.</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Home — what needs you today</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The landing page opens on the workspace-wide early-alert queue.</a:t>
            </a:r>
            <a:endParaRPr lang="en-US" sz="1400" dirty="0"/>
          </a:p>
        </p:txBody>
      </p:sp>
      <p:pic>
        <p:nvPicPr>
          <p:cNvPr id="4" name="Image 0" descr="preencoded.png">    </p:cNvPr>
          <p:cNvPicPr>
            <a:picLocks noChangeAspect="1"/>
          </p:cNvPicPr>
          <p:nvPr/>
        </p:nvPicPr>
        <p:blipFill>
          <a:blip r:embed="rId1"/>
          <a:stretch>
            <a:fillRect/>
          </a:stretch>
        </p:blipFill>
        <p:spPr>
          <a:xfrm>
            <a:off x="548640" y="1463040"/>
            <a:ext cx="7589520" cy="4937760"/>
          </a:xfrm>
          <a:prstGeom prst="rect">
            <a:avLst/>
          </a:prstGeom>
          <a:effectLst>
            <a:outerShdw sx="100000" sy="100000" kx="0" ky="0" algn="bl" rotWithShape="0" blurRad="177800" dist="38100" dir="5400000">
              <a:srgbClr val="000000">
                <a:alpha val="18000"/>
              </a:srgbClr>
            </a:outerShdw>
          </a:effectLst>
        </p:spPr>
      </p:pic>
      <p:sp>
        <p:nvSpPr>
          <p:cNvPr id="5" name="Shape 2"/>
          <p:cNvSpPr/>
          <p:nvPr/>
        </p:nvSpPr>
        <p:spPr>
          <a:xfrm>
            <a:off x="8458200" y="1600200"/>
            <a:ext cx="347472" cy="347472"/>
          </a:xfrm>
          <a:prstGeom prst="ellipse">
            <a:avLst/>
          </a:prstGeom>
          <a:solidFill>
            <a:srgbClr val="D92D20"/>
          </a:solidFill>
          <a:ln/>
        </p:spPr>
      </p:sp>
      <p:sp>
        <p:nvSpPr>
          <p:cNvPr id="6" name="Text 3"/>
          <p:cNvSpPr/>
          <p:nvPr/>
        </p:nvSpPr>
        <p:spPr>
          <a:xfrm>
            <a:off x="8458200" y="16002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p:nvPr/>
        </p:nvSpPr>
        <p:spPr>
          <a:xfrm>
            <a:off x="8942832" y="15636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Ranked, not listed</a:t>
            </a:r>
            <a:endParaRPr lang="en-US" sz="1500" dirty="0"/>
          </a:p>
        </p:txBody>
      </p:sp>
      <p:sp>
        <p:nvSpPr>
          <p:cNvPr id="8" name="Text 5"/>
          <p:cNvSpPr/>
          <p:nvPr/>
        </p:nvSpPr>
        <p:spPr>
          <a:xfrm>
            <a:off x="8458200" y="1892808"/>
            <a:ext cx="3291840" cy="96012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Every active roster member is scored; only those with an open signal appear.</a:t>
            </a:r>
            <a:endParaRPr lang="en-US" sz="1250" dirty="0"/>
          </a:p>
        </p:txBody>
      </p:sp>
      <p:sp>
        <p:nvSpPr>
          <p:cNvPr id="9" name="Shape 6"/>
          <p:cNvSpPr/>
          <p:nvPr/>
        </p:nvSpPr>
        <p:spPr>
          <a:xfrm>
            <a:off x="8458200" y="3200400"/>
            <a:ext cx="347472" cy="347472"/>
          </a:xfrm>
          <a:prstGeom prst="ellipse">
            <a:avLst/>
          </a:prstGeom>
          <a:solidFill>
            <a:srgbClr val="D92D20"/>
          </a:solidFill>
          <a:ln/>
        </p:spPr>
      </p:sp>
      <p:sp>
        <p:nvSpPr>
          <p:cNvPr id="10" name="Text 7"/>
          <p:cNvSpPr/>
          <p:nvPr/>
        </p:nvSpPr>
        <p:spPr>
          <a:xfrm>
            <a:off x="8458200" y="32004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8942832" y="31638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Explains itself</a:t>
            </a:r>
            <a:endParaRPr lang="en-US" sz="1500" dirty="0"/>
          </a:p>
        </p:txBody>
      </p:sp>
      <p:sp>
        <p:nvSpPr>
          <p:cNvPr id="12" name="Text 9"/>
          <p:cNvSpPr/>
          <p:nvPr/>
        </p:nvSpPr>
        <p:spPr>
          <a:xfrm>
            <a:off x="8458200" y="3493008"/>
            <a:ext cx="3291840" cy="96012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Each row carries its reasons — a score with no explanation is not actionable.</a:t>
            </a:r>
            <a:endParaRPr lang="en-US" sz="1250" dirty="0"/>
          </a:p>
        </p:txBody>
      </p:sp>
      <p:sp>
        <p:nvSpPr>
          <p:cNvPr id="13" name="Shape 10"/>
          <p:cNvSpPr/>
          <p:nvPr/>
        </p:nvSpPr>
        <p:spPr>
          <a:xfrm>
            <a:off x="8458200" y="4800600"/>
            <a:ext cx="347472" cy="347472"/>
          </a:xfrm>
          <a:prstGeom prst="ellipse">
            <a:avLst/>
          </a:prstGeom>
          <a:solidFill>
            <a:srgbClr val="D92D20"/>
          </a:solidFill>
          <a:ln/>
        </p:spPr>
      </p:sp>
      <p:sp>
        <p:nvSpPr>
          <p:cNvPr id="14" name="Text 11"/>
          <p:cNvSpPr/>
          <p:nvPr/>
        </p:nvSpPr>
        <p:spPr>
          <a:xfrm>
            <a:off x="8458200" y="4800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8942832" y="47640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Live counters</a:t>
            </a:r>
            <a:endParaRPr lang="en-US" sz="1500" dirty="0"/>
          </a:p>
        </p:txBody>
      </p:sp>
      <p:sp>
        <p:nvSpPr>
          <p:cNvPr id="16" name="Text 13"/>
          <p:cNvSpPr/>
          <p:nvPr/>
        </p:nvSpPr>
        <p:spPr>
          <a:xfrm>
            <a:off x="8458200" y="5093208"/>
            <a:ext cx="3291840" cy="96012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Seeded Pokémon, notes written, flags set, records tracked.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Five signals, one scorer</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SQL gathers the facts; TypeScript applies the weights, so the score and the reasons never drift apart.</a:t>
            </a:r>
            <a:endParaRPr lang="en-US" sz="1400" dirty="0"/>
          </a:p>
        </p:txBody>
      </p:sp>
      <p:sp>
        <p:nvSpPr>
          <p:cNvPr id="4" name="Shape 2"/>
          <p:cNvSpPr/>
          <p:nvPr/>
        </p:nvSpPr>
        <p:spPr>
          <a:xfrm>
            <a:off x="548640" y="1691640"/>
            <a:ext cx="7040880" cy="621792"/>
          </a:xfrm>
          <a:prstGeom prst="roundRect">
            <a:avLst>
              <a:gd name="adj" fmla="val 11765"/>
            </a:avLst>
          </a:prstGeom>
          <a:solidFill>
            <a:srgbClr val="F4F4F2"/>
          </a:solidFill>
          <a:ln w="12700">
            <a:solidFill>
              <a:srgbClr val="E1E0D9"/>
            </a:solidFill>
            <a:prstDash val="solid"/>
          </a:ln>
        </p:spPr>
      </p:sp>
      <p:sp>
        <p:nvSpPr>
          <p:cNvPr id="5" name="Text 3"/>
          <p:cNvSpPr/>
          <p:nvPr/>
        </p:nvSpPr>
        <p:spPr>
          <a:xfrm>
            <a:off x="777240" y="1728216"/>
            <a:ext cx="2468880" cy="27432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Never reviewed</a:t>
            </a:r>
            <a:endParaRPr lang="en-US" sz="1400" dirty="0"/>
          </a:p>
        </p:txBody>
      </p:sp>
      <p:sp>
        <p:nvSpPr>
          <p:cNvPr id="6" name="Text 4"/>
          <p:cNvSpPr/>
          <p:nvPr/>
        </p:nvSpPr>
        <p:spPr>
          <a:xfrm>
            <a:off x="777240" y="2002536"/>
            <a:ext cx="4754880" cy="256032"/>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No review has ever been recorded</a:t>
            </a:r>
            <a:endParaRPr lang="en-US" sz="1150" dirty="0"/>
          </a:p>
        </p:txBody>
      </p:sp>
      <p:sp>
        <p:nvSpPr>
          <p:cNvPr id="7" name="Text 5"/>
          <p:cNvSpPr/>
          <p:nvPr/>
        </p:nvSpPr>
        <p:spPr>
          <a:xfrm>
            <a:off x="6309360" y="1837944"/>
            <a:ext cx="1097280" cy="329184"/>
          </a:xfrm>
          <a:prstGeom prst="rect">
            <a:avLst/>
          </a:prstGeom>
          <a:noFill/>
          <a:ln/>
        </p:spPr>
        <p:txBody>
          <a:bodyPr wrap="square" lIns="0" tIns="0" rIns="0" bIns="0" rtlCol="0" anchor="ctr"/>
          <a:lstStyle/>
          <a:p>
            <a:pPr algn="r" indent="0" marL="0">
              <a:buNone/>
            </a:pPr>
            <a:r>
              <a:rPr lang="en-US" sz="1400" b="1" dirty="0">
                <a:solidFill>
                  <a:srgbClr val="D92D20"/>
                </a:solidFill>
                <a:latin typeface="Calibri" pitchFamily="34" charset="0"/>
                <a:ea typeface="Calibri" pitchFamily="34" charset="-122"/>
                <a:cs typeface="Calibri" pitchFamily="34" charset="-120"/>
              </a:rPr>
              <a:t>40</a:t>
            </a:r>
            <a:endParaRPr lang="en-US" sz="1400" dirty="0"/>
          </a:p>
        </p:txBody>
      </p:sp>
      <p:sp>
        <p:nvSpPr>
          <p:cNvPr id="8" name="Shape 6"/>
          <p:cNvSpPr/>
          <p:nvPr/>
        </p:nvSpPr>
        <p:spPr>
          <a:xfrm>
            <a:off x="548640" y="2441448"/>
            <a:ext cx="7040880" cy="621792"/>
          </a:xfrm>
          <a:prstGeom prst="roundRect">
            <a:avLst>
              <a:gd name="adj" fmla="val 11765"/>
            </a:avLst>
          </a:prstGeom>
          <a:solidFill>
            <a:srgbClr val="FFFFFF"/>
          </a:solidFill>
          <a:ln w="12700">
            <a:solidFill>
              <a:srgbClr val="E1E0D9"/>
            </a:solidFill>
            <a:prstDash val="solid"/>
          </a:ln>
        </p:spPr>
      </p:sp>
      <p:sp>
        <p:nvSpPr>
          <p:cNvPr id="9" name="Text 7"/>
          <p:cNvSpPr/>
          <p:nvPr/>
        </p:nvSpPr>
        <p:spPr>
          <a:xfrm>
            <a:off x="777240" y="2478024"/>
            <a:ext cx="2468880" cy="27432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Stale review</a:t>
            </a:r>
            <a:endParaRPr lang="en-US" sz="1400" dirty="0"/>
          </a:p>
        </p:txBody>
      </p:sp>
      <p:sp>
        <p:nvSpPr>
          <p:cNvPr id="10" name="Text 8"/>
          <p:cNvSpPr/>
          <p:nvPr/>
        </p:nvSpPr>
        <p:spPr>
          <a:xfrm>
            <a:off x="777240" y="2752344"/>
            <a:ext cx="4754880" cy="256032"/>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Past the 30-day contact window</a:t>
            </a:r>
            <a:endParaRPr lang="en-US" sz="1150" dirty="0"/>
          </a:p>
        </p:txBody>
      </p:sp>
      <p:sp>
        <p:nvSpPr>
          <p:cNvPr id="11" name="Text 9"/>
          <p:cNvSpPr/>
          <p:nvPr/>
        </p:nvSpPr>
        <p:spPr>
          <a:xfrm>
            <a:off x="6309360" y="2587752"/>
            <a:ext cx="1097280" cy="329184"/>
          </a:xfrm>
          <a:prstGeom prst="rect">
            <a:avLst/>
          </a:prstGeom>
          <a:noFill/>
          <a:ln/>
        </p:spPr>
        <p:txBody>
          <a:bodyPr wrap="square" lIns="0" tIns="0" rIns="0" bIns="0" rtlCol="0" anchor="ctr"/>
          <a:lstStyle/>
          <a:p>
            <a:pPr algn="r" indent="0" marL="0">
              <a:buNone/>
            </a:pPr>
            <a:r>
              <a:rPr lang="en-US" sz="1400" b="1" dirty="0">
                <a:solidFill>
                  <a:srgbClr val="D92D20"/>
                </a:solidFill>
                <a:latin typeface="Calibri" pitchFamily="34" charset="0"/>
                <a:ea typeface="Calibri" pitchFamily="34" charset="-122"/>
                <a:cs typeface="Calibri" pitchFamily="34" charset="-120"/>
              </a:rPr>
              <a:t>up to 45</a:t>
            </a:r>
            <a:endParaRPr lang="en-US" sz="1400" dirty="0"/>
          </a:p>
        </p:txBody>
      </p:sp>
      <p:sp>
        <p:nvSpPr>
          <p:cNvPr id="12" name="Shape 10"/>
          <p:cNvSpPr/>
          <p:nvPr/>
        </p:nvSpPr>
        <p:spPr>
          <a:xfrm>
            <a:off x="548640" y="3191256"/>
            <a:ext cx="7040880" cy="621792"/>
          </a:xfrm>
          <a:prstGeom prst="roundRect">
            <a:avLst>
              <a:gd name="adj" fmla="val 11765"/>
            </a:avLst>
          </a:prstGeom>
          <a:solidFill>
            <a:srgbClr val="F4F4F2"/>
          </a:solidFill>
          <a:ln w="12700">
            <a:solidFill>
              <a:srgbClr val="E1E0D9"/>
            </a:solidFill>
            <a:prstDash val="solid"/>
          </a:ln>
        </p:spPr>
      </p:sp>
      <p:sp>
        <p:nvSpPr>
          <p:cNvPr id="13" name="Text 11"/>
          <p:cNvSpPr/>
          <p:nvPr/>
        </p:nvSpPr>
        <p:spPr>
          <a:xfrm>
            <a:off x="777240" y="3227832"/>
            <a:ext cx="2468880" cy="27432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Flagged</a:t>
            </a:r>
            <a:endParaRPr lang="en-US" sz="1400" dirty="0"/>
          </a:p>
        </p:txBody>
      </p:sp>
      <p:sp>
        <p:nvSpPr>
          <p:cNvPr id="14" name="Text 12"/>
          <p:cNvSpPr/>
          <p:nvPr/>
        </p:nvSpPr>
        <p:spPr>
          <a:xfrm>
            <a:off x="777240" y="3502152"/>
            <a:ext cx="4754880" cy="256032"/>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Someone already raised a concern</a:t>
            </a:r>
            <a:endParaRPr lang="en-US" sz="1150" dirty="0"/>
          </a:p>
        </p:txBody>
      </p:sp>
      <p:sp>
        <p:nvSpPr>
          <p:cNvPr id="15" name="Text 13"/>
          <p:cNvSpPr/>
          <p:nvPr/>
        </p:nvSpPr>
        <p:spPr>
          <a:xfrm>
            <a:off x="6309360" y="3337560"/>
            <a:ext cx="1097280" cy="329184"/>
          </a:xfrm>
          <a:prstGeom prst="rect">
            <a:avLst/>
          </a:prstGeom>
          <a:noFill/>
          <a:ln/>
        </p:spPr>
        <p:txBody>
          <a:bodyPr wrap="square" lIns="0" tIns="0" rIns="0" bIns="0" rtlCol="0" anchor="ctr"/>
          <a:lstStyle/>
          <a:p>
            <a:pPr algn="r" indent="0" marL="0">
              <a:buNone/>
            </a:pPr>
            <a:r>
              <a:rPr lang="en-US" sz="1400" b="1" dirty="0">
                <a:solidFill>
                  <a:srgbClr val="D92D20"/>
                </a:solidFill>
                <a:latin typeface="Calibri" pitchFamily="34" charset="0"/>
                <a:ea typeface="Calibri" pitchFamily="34" charset="-122"/>
                <a:cs typeface="Calibri" pitchFamily="34" charset="-120"/>
              </a:rPr>
              <a:t>35</a:t>
            </a:r>
            <a:endParaRPr lang="en-US" sz="1400" dirty="0"/>
          </a:p>
        </p:txBody>
      </p:sp>
      <p:sp>
        <p:nvSpPr>
          <p:cNvPr id="16" name="Shape 14"/>
          <p:cNvSpPr/>
          <p:nvPr/>
        </p:nvSpPr>
        <p:spPr>
          <a:xfrm>
            <a:off x="548640" y="3941064"/>
            <a:ext cx="7040880" cy="621792"/>
          </a:xfrm>
          <a:prstGeom prst="roundRect">
            <a:avLst>
              <a:gd name="adj" fmla="val 11765"/>
            </a:avLst>
          </a:prstGeom>
          <a:solidFill>
            <a:srgbClr val="FFFFFF"/>
          </a:solidFill>
          <a:ln w="12700">
            <a:solidFill>
              <a:srgbClr val="E1E0D9"/>
            </a:solidFill>
            <a:prstDash val="solid"/>
          </a:ln>
        </p:spPr>
      </p:sp>
      <p:sp>
        <p:nvSpPr>
          <p:cNvPr id="17" name="Text 15"/>
          <p:cNvSpPr/>
          <p:nvPr/>
        </p:nvSpPr>
        <p:spPr>
          <a:xfrm>
            <a:off x="777240" y="3977640"/>
            <a:ext cx="2468880" cy="27432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Milestone overdue</a:t>
            </a:r>
            <a:endParaRPr lang="en-US" sz="1400" dirty="0"/>
          </a:p>
        </p:txBody>
      </p:sp>
      <p:sp>
        <p:nvSpPr>
          <p:cNvPr id="18" name="Text 16"/>
          <p:cNvSpPr/>
          <p:nvPr/>
        </p:nvSpPr>
        <p:spPr>
          <a:xfrm>
            <a:off x="777240" y="4251960"/>
            <a:ext cx="4754880" cy="256032"/>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Met its evolution requirement, not signed off</a:t>
            </a:r>
            <a:endParaRPr lang="en-US" sz="1150" dirty="0"/>
          </a:p>
        </p:txBody>
      </p:sp>
      <p:sp>
        <p:nvSpPr>
          <p:cNvPr id="19" name="Text 17"/>
          <p:cNvSpPr/>
          <p:nvPr/>
        </p:nvSpPr>
        <p:spPr>
          <a:xfrm>
            <a:off x="6309360" y="4087368"/>
            <a:ext cx="1097280" cy="329184"/>
          </a:xfrm>
          <a:prstGeom prst="rect">
            <a:avLst/>
          </a:prstGeom>
          <a:noFill/>
          <a:ln/>
        </p:spPr>
        <p:txBody>
          <a:bodyPr wrap="square" lIns="0" tIns="0" rIns="0" bIns="0" rtlCol="0" anchor="ctr"/>
          <a:lstStyle/>
          <a:p>
            <a:pPr algn="r" indent="0" marL="0">
              <a:buNone/>
            </a:pPr>
            <a:r>
              <a:rPr lang="en-US" sz="1400" b="1" dirty="0">
                <a:solidFill>
                  <a:srgbClr val="D92D20"/>
                </a:solidFill>
                <a:latin typeface="Calibri" pitchFamily="34" charset="0"/>
                <a:ea typeface="Calibri" pitchFamily="34" charset="-122"/>
                <a:cs typeface="Calibri" pitchFamily="34" charset="-120"/>
              </a:rPr>
              <a:t>30</a:t>
            </a:r>
            <a:endParaRPr lang="en-US" sz="1400" dirty="0"/>
          </a:p>
        </p:txBody>
      </p:sp>
      <p:sp>
        <p:nvSpPr>
          <p:cNvPr id="20" name="Shape 18"/>
          <p:cNvSpPr/>
          <p:nvPr/>
        </p:nvSpPr>
        <p:spPr>
          <a:xfrm>
            <a:off x="548640" y="4690872"/>
            <a:ext cx="7040880" cy="621792"/>
          </a:xfrm>
          <a:prstGeom prst="roundRect">
            <a:avLst>
              <a:gd name="adj" fmla="val 11765"/>
            </a:avLst>
          </a:prstGeom>
          <a:solidFill>
            <a:srgbClr val="F4F4F2"/>
          </a:solidFill>
          <a:ln w="12700">
            <a:solidFill>
              <a:srgbClr val="E1E0D9"/>
            </a:solidFill>
            <a:prstDash val="solid"/>
          </a:ln>
        </p:spPr>
      </p:sp>
      <p:sp>
        <p:nvSpPr>
          <p:cNvPr id="21" name="Text 19"/>
          <p:cNvSpPr/>
          <p:nvPr/>
        </p:nvSpPr>
        <p:spPr>
          <a:xfrm>
            <a:off x="777240" y="4727448"/>
            <a:ext cx="2468880" cy="27432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Behind pace</a:t>
            </a:r>
            <a:endParaRPr lang="en-US" sz="1400" dirty="0"/>
          </a:p>
        </p:txBody>
      </p:sp>
      <p:sp>
        <p:nvSpPr>
          <p:cNvPr id="22" name="Text 20"/>
          <p:cNvSpPr/>
          <p:nvPr/>
        </p:nvSpPr>
        <p:spPr>
          <a:xfrm>
            <a:off x="777240" y="5001768"/>
            <a:ext cx="4754880" cy="256032"/>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Below the level its growth curve implies</a:t>
            </a:r>
            <a:endParaRPr lang="en-US" sz="1150" dirty="0"/>
          </a:p>
        </p:txBody>
      </p:sp>
      <p:sp>
        <p:nvSpPr>
          <p:cNvPr id="23" name="Text 21"/>
          <p:cNvSpPr/>
          <p:nvPr/>
        </p:nvSpPr>
        <p:spPr>
          <a:xfrm>
            <a:off x="6309360" y="4837176"/>
            <a:ext cx="1097280" cy="329184"/>
          </a:xfrm>
          <a:prstGeom prst="rect">
            <a:avLst/>
          </a:prstGeom>
          <a:noFill/>
          <a:ln/>
        </p:spPr>
        <p:txBody>
          <a:bodyPr wrap="square" lIns="0" tIns="0" rIns="0" bIns="0" rtlCol="0" anchor="ctr"/>
          <a:lstStyle/>
          <a:p>
            <a:pPr algn="r" indent="0" marL="0">
              <a:buNone/>
            </a:pPr>
            <a:r>
              <a:rPr lang="en-US" sz="1400" b="1" dirty="0">
                <a:solidFill>
                  <a:srgbClr val="D92D20"/>
                </a:solidFill>
                <a:latin typeface="Calibri" pitchFamily="34" charset="0"/>
                <a:ea typeface="Calibri" pitchFamily="34" charset="-122"/>
                <a:cs typeface="Calibri" pitchFamily="34" charset="-120"/>
              </a:rPr>
              <a:t>up to 30</a:t>
            </a:r>
            <a:endParaRPr lang="en-US" sz="1400" dirty="0"/>
          </a:p>
        </p:txBody>
      </p:sp>
      <p:pic>
        <p:nvPicPr>
          <p:cNvPr id="24" name="Image 0" descr="preencoded.png">    </p:cNvPr>
          <p:cNvPicPr>
            <a:picLocks noChangeAspect="1"/>
          </p:cNvPicPr>
          <p:nvPr/>
        </p:nvPicPr>
        <p:blipFill>
          <a:blip r:embed="rId1"/>
          <a:stretch>
            <a:fillRect/>
          </a:stretch>
        </p:blipFill>
        <p:spPr>
          <a:xfrm>
            <a:off x="8001000" y="1691640"/>
            <a:ext cx="3703320" cy="2697480"/>
          </a:xfrm>
          <a:prstGeom prst="rect">
            <a:avLst/>
          </a:prstGeom>
          <a:effectLst>
            <a:outerShdw sx="100000" sy="100000" kx="0" ky="0" algn="bl" rotWithShape="0" blurRad="177800" dist="38100" dir="5400000">
              <a:srgbClr val="000000">
                <a:alpha val="18000"/>
              </a:srgbClr>
            </a:outerShdw>
          </a:effectLst>
        </p:spPr>
      </p:pic>
      <p:sp>
        <p:nvSpPr>
          <p:cNvPr id="25" name="Shape 22"/>
          <p:cNvSpPr/>
          <p:nvPr/>
        </p:nvSpPr>
        <p:spPr>
          <a:xfrm>
            <a:off x="8001000" y="4617720"/>
            <a:ext cx="3703320" cy="1737360"/>
          </a:xfrm>
          <a:prstGeom prst="roundRect">
            <a:avLst>
              <a:gd name="adj" fmla="val 5263"/>
            </a:avLst>
          </a:prstGeom>
          <a:solidFill>
            <a:srgbClr val="FDF0EF"/>
          </a:solidFill>
          <a:ln/>
        </p:spPr>
      </p:sp>
      <p:sp>
        <p:nvSpPr>
          <p:cNvPr id="26" name="Text 23"/>
          <p:cNvSpPr/>
          <p:nvPr/>
        </p:nvSpPr>
        <p:spPr>
          <a:xfrm>
            <a:off x="8229600" y="4773168"/>
            <a:ext cx="3291840" cy="292608"/>
          </a:xfrm>
          <a:prstGeom prst="rect">
            <a:avLst/>
          </a:prstGeom>
          <a:noFill/>
          <a:ln/>
        </p:spPr>
        <p:txBody>
          <a:bodyPr wrap="square" lIns="0" tIns="0" rIns="0" bIns="0" rtlCol="0" anchor="ctr"/>
          <a:lstStyle/>
          <a:p>
            <a:pPr indent="0" marL="0">
              <a:buNone/>
            </a:pPr>
            <a:r>
              <a:rPr lang="en-US" sz="1300" b="1" dirty="0">
                <a:solidFill>
                  <a:srgbClr val="B42318"/>
                </a:solidFill>
                <a:latin typeface="Calibri" pitchFamily="34" charset="0"/>
                <a:ea typeface="Calibri" pitchFamily="34" charset="-122"/>
                <a:cs typeface="Calibri" pitchFamily="34" charset="-120"/>
              </a:rPr>
              <a:t>“Behind pace” is real maths</a:t>
            </a:r>
            <a:endParaRPr lang="en-US" sz="1300" dirty="0"/>
          </a:p>
        </p:txBody>
      </p:sp>
      <p:sp>
        <p:nvSpPr>
          <p:cNvPr id="27" name="Text 24"/>
          <p:cNvSpPr/>
          <p:nvPr/>
        </p:nvSpPr>
        <p:spPr>
          <a:xfrm>
            <a:off x="8229600" y="5084064"/>
            <a:ext cx="329184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Each species' true EXP curve is seeded from PokeAPI. Time on roster × an assumed training rate gives an expected level — and the app says so, rather than passing the assumption off as measurement.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Trainers — the caseload view</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Search or pick a trainer, then work their roster.</a:t>
            </a:r>
            <a:endParaRPr lang="en-US" sz="1400" dirty="0"/>
          </a:p>
        </p:txBody>
      </p:sp>
      <p:pic>
        <p:nvPicPr>
          <p:cNvPr id="4" name="Image 0" descr="preencoded.png">    </p:cNvPr>
          <p:cNvPicPr>
            <a:picLocks noChangeAspect="1"/>
          </p:cNvPicPr>
          <p:nvPr/>
        </p:nvPicPr>
        <p:blipFill>
          <a:blip r:embed="rId1"/>
          <a:stretch>
            <a:fillRect/>
          </a:stretch>
        </p:blipFill>
        <p:spPr>
          <a:xfrm>
            <a:off x="548640" y="1463040"/>
            <a:ext cx="7589520" cy="4937760"/>
          </a:xfrm>
          <a:prstGeom prst="rect">
            <a:avLst/>
          </a:prstGeom>
          <a:effectLst>
            <a:outerShdw sx="100000" sy="100000" kx="0" ky="0" algn="bl" rotWithShape="0" blurRad="177800" dist="38100" dir="5400000">
              <a:srgbClr val="000000">
                <a:alpha val="18000"/>
              </a:srgbClr>
            </a:outerShdw>
          </a:effectLst>
        </p:spPr>
      </p:pic>
      <p:sp>
        <p:nvSpPr>
          <p:cNvPr id="5" name="Shape 2"/>
          <p:cNvSpPr/>
          <p:nvPr/>
        </p:nvSpPr>
        <p:spPr>
          <a:xfrm>
            <a:off x="8458200" y="1600200"/>
            <a:ext cx="347472" cy="347472"/>
          </a:xfrm>
          <a:prstGeom prst="ellipse">
            <a:avLst/>
          </a:prstGeom>
          <a:solidFill>
            <a:srgbClr val="D92D20"/>
          </a:solidFill>
          <a:ln/>
        </p:spPr>
      </p:sp>
      <p:sp>
        <p:nvSpPr>
          <p:cNvPr id="6" name="Text 3"/>
          <p:cNvSpPr/>
          <p:nvPr/>
        </p:nvSpPr>
        <p:spPr>
          <a:xfrm>
            <a:off x="8458200" y="16002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p:nvPr/>
        </p:nvSpPr>
        <p:spPr>
          <a:xfrm>
            <a:off x="8942832" y="15636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Stats that agree</a:t>
            </a:r>
            <a:endParaRPr lang="en-US" sz="1500" dirty="0"/>
          </a:p>
        </p:txBody>
      </p:sp>
      <p:sp>
        <p:nvSpPr>
          <p:cNvPr id="8" name="Text 5"/>
          <p:cNvSpPr/>
          <p:nvPr/>
        </p:nvSpPr>
        <p:spPr>
          <a:xfrm>
            <a:off x="8458200" y="18928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Roster size counts everyone; every quality metric is computed over the active roster and labelled as such.</a:t>
            </a:r>
            <a:endParaRPr lang="en-US" sz="1250" dirty="0"/>
          </a:p>
        </p:txBody>
      </p:sp>
      <p:sp>
        <p:nvSpPr>
          <p:cNvPr id="9" name="Shape 6"/>
          <p:cNvSpPr/>
          <p:nvPr/>
        </p:nvSpPr>
        <p:spPr>
          <a:xfrm>
            <a:off x="8458200" y="3200400"/>
            <a:ext cx="347472" cy="347472"/>
          </a:xfrm>
          <a:prstGeom prst="ellipse">
            <a:avLst/>
          </a:prstGeom>
          <a:solidFill>
            <a:srgbClr val="D92D20"/>
          </a:solidFill>
          <a:ln/>
        </p:spPr>
      </p:sp>
      <p:sp>
        <p:nvSpPr>
          <p:cNvPr id="10" name="Text 7"/>
          <p:cNvSpPr/>
          <p:nvPr/>
        </p:nvSpPr>
        <p:spPr>
          <a:xfrm>
            <a:off x="8458200" y="32004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8942832" y="31638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Ready to evolve</a:t>
            </a:r>
            <a:endParaRPr lang="en-US" sz="1500" dirty="0"/>
          </a:p>
        </p:txBody>
      </p:sp>
      <p:sp>
        <p:nvSpPr>
          <p:cNvPr id="12" name="Text 9"/>
          <p:cNvSpPr/>
          <p:nvPr/>
        </p:nvSpPr>
        <p:spPr>
          <a:xfrm>
            <a:off x="8458200" y="34930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Milestones met but unsigned, surfaced as their own panel.</a:t>
            </a:r>
            <a:endParaRPr lang="en-US" sz="1250" dirty="0"/>
          </a:p>
        </p:txBody>
      </p:sp>
      <p:sp>
        <p:nvSpPr>
          <p:cNvPr id="13" name="Shape 10"/>
          <p:cNvSpPr/>
          <p:nvPr/>
        </p:nvSpPr>
        <p:spPr>
          <a:xfrm>
            <a:off x="8458200" y="4800600"/>
            <a:ext cx="347472" cy="347472"/>
          </a:xfrm>
          <a:prstGeom prst="ellipse">
            <a:avLst/>
          </a:prstGeom>
          <a:solidFill>
            <a:srgbClr val="D92D20"/>
          </a:solidFill>
          <a:ln/>
        </p:spPr>
      </p:sp>
      <p:sp>
        <p:nvSpPr>
          <p:cNvPr id="14" name="Text 11"/>
          <p:cNvSpPr/>
          <p:nvPr/>
        </p:nvSpPr>
        <p:spPr>
          <a:xfrm>
            <a:off x="8458200" y="4800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8942832" y="47640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Full CRUD</a:t>
            </a:r>
            <a:endParaRPr lang="en-US" sz="1500" dirty="0"/>
          </a:p>
        </p:txBody>
      </p:sp>
      <p:sp>
        <p:nvSpPr>
          <p:cNvPr id="16" name="Text 13"/>
          <p:cNvSpPr/>
          <p:nvPr/>
        </p:nvSpPr>
        <p:spPr>
          <a:xfrm>
            <a:off x="8458200" y="50932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Create, edit, delete trainers; add, edit, transfer, and remove roster members.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Roster board</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The same roster as a drag-and-drop board — move a card to change its status.</a:t>
            </a:r>
            <a:endParaRPr lang="en-US" sz="1400" dirty="0"/>
          </a:p>
        </p:txBody>
      </p:sp>
      <p:pic>
        <p:nvPicPr>
          <p:cNvPr id="4" name="Image 0" descr="preencoded.png">    </p:cNvPr>
          <p:cNvPicPr>
            <a:picLocks noChangeAspect="1"/>
          </p:cNvPicPr>
          <p:nvPr/>
        </p:nvPicPr>
        <p:blipFill>
          <a:blip r:embed="rId1"/>
          <a:stretch>
            <a:fillRect/>
          </a:stretch>
        </p:blipFill>
        <p:spPr>
          <a:xfrm>
            <a:off x="548640" y="1536192"/>
            <a:ext cx="11064240" cy="4480560"/>
          </a:xfrm>
          <a:prstGeom prst="rect">
            <a:avLst/>
          </a:prstGeom>
          <a:effectLst>
            <a:outerShdw sx="100000" sy="100000" kx="0" ky="0" algn="bl" rotWithShape="0" blurRad="177800" dist="38100" dir="5400000">
              <a:srgbClr val="000000">
                <a:alpha val="18000"/>
              </a:srgbClr>
            </a:outerShdw>
          </a:effectLst>
        </p:spPr>
      </p:pic>
      <p:sp>
        <p:nvSpPr>
          <p:cNvPr id="5" name="Text 2"/>
          <p:cNvSpPr/>
          <p:nvPr/>
        </p:nvSpPr>
        <p:spPr>
          <a:xfrm>
            <a:off x="548640" y="6144768"/>
            <a:ext cx="11064240" cy="3657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Starter · Active · Reserve · Retired — the same enum the API already enforced, made physical. Moves are optimistic and undoable.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Lookup — and bulk actions</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All 1,025 Pokémon, filterable by type, generation, status, and trainer.</a:t>
            </a:r>
            <a:endParaRPr lang="en-US" sz="1400" dirty="0"/>
          </a:p>
        </p:txBody>
      </p:sp>
      <p:pic>
        <p:nvPicPr>
          <p:cNvPr id="4" name="Image 0" descr="preencoded.png">    </p:cNvPr>
          <p:cNvPicPr>
            <a:picLocks noChangeAspect="1"/>
          </p:cNvPicPr>
          <p:nvPr/>
        </p:nvPicPr>
        <p:blipFill>
          <a:blip r:embed="rId1"/>
          <a:stretch>
            <a:fillRect/>
          </a:stretch>
        </p:blipFill>
        <p:spPr>
          <a:xfrm>
            <a:off x="548640" y="1536192"/>
            <a:ext cx="11064240" cy="4160520"/>
          </a:xfrm>
          <a:prstGeom prst="rect">
            <a:avLst/>
          </a:prstGeom>
          <a:effectLst>
            <a:outerShdw sx="100000" sy="100000" kx="0" ky="0" algn="bl" rotWithShape="0" blurRad="177800" dist="38100" dir="5400000">
              <a:srgbClr val="000000">
                <a:alpha val="18000"/>
              </a:srgbClr>
            </a:outerShdw>
          </a:effectLst>
        </p:spPr>
      </p:pic>
      <p:sp>
        <p:nvSpPr>
          <p:cNvPr id="5" name="Shape 2"/>
          <p:cNvSpPr/>
          <p:nvPr/>
        </p:nvSpPr>
        <p:spPr>
          <a:xfrm>
            <a:off x="548640" y="5870448"/>
            <a:ext cx="2651760" cy="475488"/>
          </a:xfrm>
          <a:prstGeom prst="roundRect">
            <a:avLst>
              <a:gd name="adj" fmla="val 19231"/>
            </a:avLst>
          </a:prstGeom>
          <a:solidFill>
            <a:srgbClr val="FDF0EF"/>
          </a:solidFill>
          <a:ln/>
        </p:spPr>
      </p:sp>
      <p:sp>
        <p:nvSpPr>
          <p:cNvPr id="6" name="Text 3"/>
          <p:cNvSpPr/>
          <p:nvPr/>
        </p:nvSpPr>
        <p:spPr>
          <a:xfrm>
            <a:off x="676656" y="5870448"/>
            <a:ext cx="2395728" cy="475488"/>
          </a:xfrm>
          <a:prstGeom prst="rect">
            <a:avLst/>
          </a:prstGeom>
          <a:noFill/>
          <a:ln/>
        </p:spPr>
        <p:txBody>
          <a:bodyPr wrap="square" lIns="0" tIns="0" rIns="0" bIns="0" rtlCol="0" anchor="ctr"/>
          <a:lstStyle/>
          <a:p>
            <a:pPr indent="0" marL="0">
              <a:buNone/>
            </a:pPr>
            <a:r>
              <a:rPr lang="en-US" sz="1150" dirty="0">
                <a:solidFill>
                  <a:srgbClr val="B42318"/>
                </a:solidFill>
                <a:latin typeface="Calibri" pitchFamily="34" charset="0"/>
                <a:ea typeface="Calibri" pitchFamily="34" charset="-122"/>
                <a:cs typeface="Calibri" pitchFamily="34" charset="-120"/>
              </a:rPr>
              <a:t>Selection spans pages</a:t>
            </a:r>
            <a:endParaRPr lang="en-US" sz="1150" dirty="0"/>
          </a:p>
        </p:txBody>
      </p:sp>
      <p:sp>
        <p:nvSpPr>
          <p:cNvPr id="7" name="Shape 4"/>
          <p:cNvSpPr/>
          <p:nvPr/>
        </p:nvSpPr>
        <p:spPr>
          <a:xfrm>
            <a:off x="3346704" y="5870448"/>
            <a:ext cx="2651760" cy="475488"/>
          </a:xfrm>
          <a:prstGeom prst="roundRect">
            <a:avLst>
              <a:gd name="adj" fmla="val 19231"/>
            </a:avLst>
          </a:prstGeom>
          <a:solidFill>
            <a:srgbClr val="FDF0EF"/>
          </a:solidFill>
          <a:ln/>
        </p:spPr>
      </p:sp>
      <p:sp>
        <p:nvSpPr>
          <p:cNvPr id="8" name="Text 5"/>
          <p:cNvSpPr/>
          <p:nvPr/>
        </p:nvSpPr>
        <p:spPr>
          <a:xfrm>
            <a:off x="3474720" y="5870448"/>
            <a:ext cx="2395728" cy="475488"/>
          </a:xfrm>
          <a:prstGeom prst="rect">
            <a:avLst/>
          </a:prstGeom>
          <a:noFill/>
          <a:ln/>
        </p:spPr>
        <p:txBody>
          <a:bodyPr wrap="square" lIns="0" tIns="0" rIns="0" bIns="0" rtlCol="0" anchor="ctr"/>
          <a:lstStyle/>
          <a:p>
            <a:pPr indent="0" marL="0">
              <a:buNone/>
            </a:pPr>
            <a:r>
              <a:rPr lang="en-US" sz="1150" dirty="0">
                <a:solidFill>
                  <a:srgbClr val="B42318"/>
                </a:solidFill>
                <a:latin typeface="Calibri" pitchFamily="34" charset="0"/>
                <a:ea typeface="Calibri" pitchFamily="34" charset="-122"/>
                <a:cs typeface="Calibri" pitchFamily="34" charset="-120"/>
              </a:rPr>
              <a:t>Set or clear a flag on many</a:t>
            </a:r>
            <a:endParaRPr lang="en-US" sz="1150" dirty="0"/>
          </a:p>
        </p:txBody>
      </p:sp>
      <p:sp>
        <p:nvSpPr>
          <p:cNvPr id="9" name="Shape 6"/>
          <p:cNvSpPr/>
          <p:nvPr/>
        </p:nvSpPr>
        <p:spPr>
          <a:xfrm>
            <a:off x="6144768" y="5870448"/>
            <a:ext cx="2651760" cy="475488"/>
          </a:xfrm>
          <a:prstGeom prst="roundRect">
            <a:avLst>
              <a:gd name="adj" fmla="val 19231"/>
            </a:avLst>
          </a:prstGeom>
          <a:solidFill>
            <a:srgbClr val="FDF0EF"/>
          </a:solidFill>
          <a:ln/>
        </p:spPr>
      </p:sp>
      <p:sp>
        <p:nvSpPr>
          <p:cNvPr id="10" name="Text 7"/>
          <p:cNvSpPr/>
          <p:nvPr/>
        </p:nvSpPr>
        <p:spPr>
          <a:xfrm>
            <a:off x="6272784" y="5870448"/>
            <a:ext cx="2395728" cy="475488"/>
          </a:xfrm>
          <a:prstGeom prst="rect">
            <a:avLst/>
          </a:prstGeom>
          <a:noFill/>
          <a:ln/>
        </p:spPr>
        <p:txBody>
          <a:bodyPr wrap="square" lIns="0" tIns="0" rIns="0" bIns="0" rtlCol="0" anchor="ctr"/>
          <a:lstStyle/>
          <a:p>
            <a:pPr indent="0" marL="0">
              <a:buNone/>
            </a:pPr>
            <a:r>
              <a:rPr lang="en-US" sz="1150" dirty="0">
                <a:solidFill>
                  <a:srgbClr val="B42318"/>
                </a:solidFill>
                <a:latin typeface="Calibri" pitchFamily="34" charset="0"/>
                <a:ea typeface="Calibri" pitchFamily="34" charset="-122"/>
                <a:cs typeface="Calibri" pitchFamily="34" charset="-120"/>
              </a:rPr>
              <a:t>One note across a selection</a:t>
            </a:r>
            <a:endParaRPr lang="en-US" sz="1150" dirty="0"/>
          </a:p>
        </p:txBody>
      </p:sp>
      <p:sp>
        <p:nvSpPr>
          <p:cNvPr id="11" name="Shape 8"/>
          <p:cNvSpPr/>
          <p:nvPr/>
        </p:nvSpPr>
        <p:spPr>
          <a:xfrm>
            <a:off x="8942832" y="5870448"/>
            <a:ext cx="2651760" cy="475488"/>
          </a:xfrm>
          <a:prstGeom prst="roundRect">
            <a:avLst>
              <a:gd name="adj" fmla="val 19231"/>
            </a:avLst>
          </a:prstGeom>
          <a:solidFill>
            <a:srgbClr val="FDF0EF"/>
          </a:solidFill>
          <a:ln/>
        </p:spPr>
      </p:sp>
      <p:sp>
        <p:nvSpPr>
          <p:cNvPr id="12" name="Text 9"/>
          <p:cNvSpPr/>
          <p:nvPr/>
        </p:nvSpPr>
        <p:spPr>
          <a:xfrm>
            <a:off x="9070848" y="5870448"/>
            <a:ext cx="2395728" cy="475488"/>
          </a:xfrm>
          <a:prstGeom prst="rect">
            <a:avLst/>
          </a:prstGeom>
          <a:noFill/>
          <a:ln/>
        </p:spPr>
        <p:txBody>
          <a:bodyPr wrap="square" lIns="0" tIns="0" rIns="0" bIns="0" rtlCol="0" anchor="ctr"/>
          <a:lstStyle/>
          <a:p>
            <a:pPr indent="0" marL="0">
              <a:buNone/>
            </a:pPr>
            <a:r>
              <a:rPr lang="en-US" sz="1150" dirty="0">
                <a:solidFill>
                  <a:srgbClr val="B42318"/>
                </a:solidFill>
                <a:latin typeface="Calibri" pitchFamily="34" charset="0"/>
                <a:ea typeface="Calibri" pitchFamily="34" charset="-122"/>
                <a:cs typeface="Calibri" pitchFamily="34" charset="-120"/>
              </a:rPr>
              <a:t>Add many to a roster at once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Profile — progress as a degree plan</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Every stage of the chain, with the requirement to reach it.</a:t>
            </a:r>
            <a:endParaRPr lang="en-US" sz="1400" dirty="0"/>
          </a:p>
        </p:txBody>
      </p:sp>
      <p:pic>
        <p:nvPicPr>
          <p:cNvPr id="4" name="Image 0" descr="preencoded.png">    </p:cNvPr>
          <p:cNvPicPr>
            <a:picLocks noChangeAspect="1"/>
          </p:cNvPicPr>
          <p:nvPr/>
        </p:nvPicPr>
        <p:blipFill>
          <a:blip r:embed="rId1"/>
          <a:stretch>
            <a:fillRect/>
          </a:stretch>
        </p:blipFill>
        <p:spPr>
          <a:xfrm>
            <a:off x="548640" y="1463040"/>
            <a:ext cx="7589520" cy="4937760"/>
          </a:xfrm>
          <a:prstGeom prst="rect">
            <a:avLst/>
          </a:prstGeom>
          <a:effectLst>
            <a:outerShdw sx="100000" sy="100000" kx="0" ky="0" algn="bl" rotWithShape="0" blurRad="177800" dist="38100" dir="5400000">
              <a:srgbClr val="000000">
                <a:alpha val="18000"/>
              </a:srgbClr>
            </a:outerShdw>
          </a:effectLst>
        </p:spPr>
      </p:pic>
      <p:sp>
        <p:nvSpPr>
          <p:cNvPr id="5" name="Shape 2"/>
          <p:cNvSpPr/>
          <p:nvPr/>
        </p:nvSpPr>
        <p:spPr>
          <a:xfrm>
            <a:off x="8458200" y="1600200"/>
            <a:ext cx="347472" cy="347472"/>
          </a:xfrm>
          <a:prstGeom prst="ellipse">
            <a:avLst/>
          </a:prstGeom>
          <a:solidFill>
            <a:srgbClr val="D92D20"/>
          </a:solidFill>
          <a:ln/>
        </p:spPr>
      </p:sp>
      <p:sp>
        <p:nvSpPr>
          <p:cNvPr id="6" name="Text 3"/>
          <p:cNvSpPr/>
          <p:nvPr/>
        </p:nvSpPr>
        <p:spPr>
          <a:xfrm>
            <a:off x="8458200" y="16002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p:nvPr/>
        </p:nvSpPr>
        <p:spPr>
          <a:xfrm>
            <a:off x="8942832" y="15636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Branching handled</a:t>
            </a:r>
            <a:endParaRPr lang="en-US" sz="1500" dirty="0"/>
          </a:p>
        </p:txBody>
      </p:sp>
      <p:sp>
        <p:nvSpPr>
          <p:cNvPr id="8" name="Text 5"/>
          <p:cNvSpPr/>
          <p:nvPr/>
        </p:nvSpPr>
        <p:spPr>
          <a:xfrm>
            <a:off x="8458200" y="18928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Eevee resolves to all eight options, each labelled with its own trigger.</a:t>
            </a:r>
            <a:endParaRPr lang="en-US" sz="1250" dirty="0"/>
          </a:p>
        </p:txBody>
      </p:sp>
      <p:sp>
        <p:nvSpPr>
          <p:cNvPr id="9" name="Shape 6"/>
          <p:cNvSpPr/>
          <p:nvPr/>
        </p:nvSpPr>
        <p:spPr>
          <a:xfrm>
            <a:off x="8458200" y="3200400"/>
            <a:ext cx="347472" cy="347472"/>
          </a:xfrm>
          <a:prstGeom prst="ellipse">
            <a:avLst/>
          </a:prstGeom>
          <a:solidFill>
            <a:srgbClr val="D92D20"/>
          </a:solidFill>
          <a:ln/>
        </p:spPr>
      </p:sp>
      <p:sp>
        <p:nvSpPr>
          <p:cNvPr id="10" name="Text 7"/>
          <p:cNvSpPr/>
          <p:nvPr/>
        </p:nvSpPr>
        <p:spPr>
          <a:xfrm>
            <a:off x="8458200" y="32004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8942832" y="31638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Not every path is a level</a:t>
            </a:r>
            <a:endParaRPr lang="en-US" sz="1500" dirty="0"/>
          </a:p>
        </p:txBody>
      </p:sp>
      <p:sp>
        <p:nvSpPr>
          <p:cNvPr id="12" name="Text 9"/>
          <p:cNvSpPr/>
          <p:nvPr/>
        </p:nvSpPr>
        <p:spPr>
          <a:xfrm>
            <a:off x="8458200" y="34930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Roughly a third evolve by stone, trade, or friendship — those store the reason instead.</a:t>
            </a:r>
            <a:endParaRPr lang="en-US" sz="1250" dirty="0"/>
          </a:p>
        </p:txBody>
      </p:sp>
      <p:sp>
        <p:nvSpPr>
          <p:cNvPr id="13" name="Shape 10"/>
          <p:cNvSpPr/>
          <p:nvPr/>
        </p:nvSpPr>
        <p:spPr>
          <a:xfrm>
            <a:off x="8458200" y="4800600"/>
            <a:ext cx="347472" cy="347472"/>
          </a:xfrm>
          <a:prstGeom prst="ellipse">
            <a:avLst/>
          </a:prstGeom>
          <a:solidFill>
            <a:srgbClr val="D92D20"/>
          </a:solidFill>
          <a:ln/>
        </p:spPr>
      </p:sp>
      <p:sp>
        <p:nvSpPr>
          <p:cNvPr id="14" name="Text 11"/>
          <p:cNvSpPr/>
          <p:nvPr/>
        </p:nvSpPr>
        <p:spPr>
          <a:xfrm>
            <a:off x="8458200" y="4800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8942832" y="47640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Feeds the queue</a:t>
            </a:r>
            <a:endParaRPr lang="en-US" sz="1500" dirty="0"/>
          </a:p>
        </p:txBody>
      </p:sp>
      <p:sp>
        <p:nvSpPr>
          <p:cNvPr id="16" name="Text 13"/>
          <p:cNvSpPr/>
          <p:nvPr/>
        </p:nvSpPr>
        <p:spPr>
          <a:xfrm>
            <a:off x="8458200" y="50932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A met level requirement becomes a milestone on the trainer dashboard.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Performance dashboard</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Exploratory analysis across the whole dataset, computed in SQL.</a:t>
            </a:r>
            <a:endParaRPr lang="en-US" sz="1400" dirty="0"/>
          </a:p>
        </p:txBody>
      </p:sp>
      <p:pic>
        <p:nvPicPr>
          <p:cNvPr id="4" name="Image 0" descr="preencoded.png">    </p:cNvPr>
          <p:cNvPicPr>
            <a:picLocks noChangeAspect="1"/>
          </p:cNvPicPr>
          <p:nvPr/>
        </p:nvPicPr>
        <p:blipFill>
          <a:blip r:embed="rId1"/>
          <a:stretch>
            <a:fillRect/>
          </a:stretch>
        </p:blipFill>
        <p:spPr>
          <a:xfrm>
            <a:off x="548640" y="1536192"/>
            <a:ext cx="11064240" cy="4480560"/>
          </a:xfrm>
          <a:prstGeom prst="rect">
            <a:avLst/>
          </a:prstGeom>
          <a:effectLst>
            <a:outerShdw sx="100000" sy="100000" kx="0" ky="0" algn="bl" rotWithShape="0" blurRad="177800" dist="38100" dir="5400000">
              <a:srgbClr val="000000">
                <a:alpha val="18000"/>
              </a:srgbClr>
            </a:outerShdw>
          </a:effectLst>
        </p:spPr>
      </p:pic>
      <p:sp>
        <p:nvSpPr>
          <p:cNvPr id="5" name="Text 2"/>
          <p:cNvSpPr/>
          <p:nvPr/>
        </p:nvSpPr>
        <p:spPr>
          <a:xfrm>
            <a:off x="548640" y="6144768"/>
            <a:ext cx="11064240" cy="3657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Distributions, per-stat averages, type and generation breakdowns, and an attack-vs-speed scatter — every aggregation in one round trip.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863840"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Getting around</a:t>
            </a:r>
            <a:endParaRPr lang="en-US" sz="3000" dirty="0"/>
          </a:p>
        </p:txBody>
      </p:sp>
      <p:sp>
        <p:nvSpPr>
          <p:cNvPr id="3" name="Text 1"/>
          <p:cNvSpPr/>
          <p:nvPr/>
        </p:nvSpPr>
        <p:spPr>
          <a:xfrm>
            <a:off x="548640" y="950976"/>
            <a:ext cx="8778240" cy="3657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Ctrl+K from anywhere — Pokémon, trainers, and pages in one list.</a:t>
            </a:r>
            <a:endParaRPr lang="en-US" sz="1400" dirty="0"/>
          </a:p>
        </p:txBody>
      </p:sp>
      <p:pic>
        <p:nvPicPr>
          <p:cNvPr id="4" name="Image 0" descr="preencoded.png">    </p:cNvPr>
          <p:cNvPicPr>
            <a:picLocks noChangeAspect="1"/>
          </p:cNvPicPr>
          <p:nvPr/>
        </p:nvPicPr>
        <p:blipFill>
          <a:blip r:embed="rId1"/>
          <a:stretch>
            <a:fillRect/>
          </a:stretch>
        </p:blipFill>
        <p:spPr>
          <a:xfrm>
            <a:off x="548640" y="1463040"/>
            <a:ext cx="7589520" cy="4937760"/>
          </a:xfrm>
          <a:prstGeom prst="rect">
            <a:avLst/>
          </a:prstGeom>
          <a:effectLst>
            <a:outerShdw sx="100000" sy="100000" kx="0" ky="0" algn="bl" rotWithShape="0" blurRad="177800" dist="38100" dir="5400000">
              <a:srgbClr val="000000">
                <a:alpha val="18000"/>
              </a:srgbClr>
            </a:outerShdw>
          </a:effectLst>
        </p:spPr>
      </p:pic>
      <p:sp>
        <p:nvSpPr>
          <p:cNvPr id="5" name="Shape 2"/>
          <p:cNvSpPr/>
          <p:nvPr/>
        </p:nvSpPr>
        <p:spPr>
          <a:xfrm>
            <a:off x="8458200" y="1600200"/>
            <a:ext cx="347472" cy="347472"/>
          </a:xfrm>
          <a:prstGeom prst="ellipse">
            <a:avLst/>
          </a:prstGeom>
          <a:solidFill>
            <a:srgbClr val="D92D20"/>
          </a:solidFill>
          <a:ln/>
        </p:spPr>
      </p:sp>
      <p:sp>
        <p:nvSpPr>
          <p:cNvPr id="6" name="Text 3"/>
          <p:cNvSpPr/>
          <p:nvPr/>
        </p:nvSpPr>
        <p:spPr>
          <a:xfrm>
            <a:off x="8458200" y="16002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p:nvPr/>
        </p:nvSpPr>
        <p:spPr>
          <a:xfrm>
            <a:off x="8942832" y="15636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No second index</a:t>
            </a:r>
            <a:endParaRPr lang="en-US" sz="1500" dirty="0"/>
          </a:p>
        </p:txBody>
      </p:sp>
      <p:sp>
        <p:nvSpPr>
          <p:cNvPr id="8" name="Text 5"/>
          <p:cNvSpPr/>
          <p:nvPr/>
        </p:nvSpPr>
        <p:spPr>
          <a:xfrm>
            <a:off x="8458200" y="18928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It searches the same endpoints the pages use, so results can never drift.</a:t>
            </a:r>
            <a:endParaRPr lang="en-US" sz="1250" dirty="0"/>
          </a:p>
        </p:txBody>
      </p:sp>
      <p:sp>
        <p:nvSpPr>
          <p:cNvPr id="9" name="Shape 6"/>
          <p:cNvSpPr/>
          <p:nvPr/>
        </p:nvSpPr>
        <p:spPr>
          <a:xfrm>
            <a:off x="8458200" y="3200400"/>
            <a:ext cx="347472" cy="347472"/>
          </a:xfrm>
          <a:prstGeom prst="ellipse">
            <a:avLst/>
          </a:prstGeom>
          <a:solidFill>
            <a:srgbClr val="D92D20"/>
          </a:solidFill>
          <a:ln/>
        </p:spPr>
      </p:sp>
      <p:sp>
        <p:nvSpPr>
          <p:cNvPr id="10" name="Text 7"/>
          <p:cNvSpPr/>
          <p:nvPr/>
        </p:nvSpPr>
        <p:spPr>
          <a:xfrm>
            <a:off x="8458200" y="32004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8942832" y="31638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Undo, not confirm</a:t>
            </a:r>
            <a:endParaRPr lang="en-US" sz="1500" dirty="0"/>
          </a:p>
        </p:txBody>
      </p:sp>
      <p:sp>
        <p:nvSpPr>
          <p:cNvPr id="12" name="Text 9"/>
          <p:cNvSpPr/>
          <p:nvPr/>
        </p:nvSpPr>
        <p:spPr>
          <a:xfrm>
            <a:off x="8458200" y="34930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Destructive actions happen, then offer Undo in a toast.</a:t>
            </a:r>
            <a:endParaRPr lang="en-US" sz="1250" dirty="0"/>
          </a:p>
        </p:txBody>
      </p:sp>
      <p:sp>
        <p:nvSpPr>
          <p:cNvPr id="13" name="Shape 10"/>
          <p:cNvSpPr/>
          <p:nvPr/>
        </p:nvSpPr>
        <p:spPr>
          <a:xfrm>
            <a:off x="8458200" y="4800600"/>
            <a:ext cx="347472" cy="347472"/>
          </a:xfrm>
          <a:prstGeom prst="ellipse">
            <a:avLst/>
          </a:prstGeom>
          <a:solidFill>
            <a:srgbClr val="D92D20"/>
          </a:solidFill>
          <a:ln/>
        </p:spPr>
      </p:sp>
      <p:sp>
        <p:nvSpPr>
          <p:cNvPr id="14" name="Text 11"/>
          <p:cNvSpPr/>
          <p:nvPr/>
        </p:nvSpPr>
        <p:spPr>
          <a:xfrm>
            <a:off x="8458200" y="4800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8942832" y="4764024"/>
            <a:ext cx="2834640" cy="347472"/>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Saved views</a:t>
            </a:r>
            <a:endParaRPr lang="en-US" sz="1500" dirty="0"/>
          </a:p>
        </p:txBody>
      </p:sp>
      <p:sp>
        <p:nvSpPr>
          <p:cNvPr id="16" name="Text 13"/>
          <p:cNvSpPr/>
          <p:nvPr/>
        </p:nvSpPr>
        <p:spPr>
          <a:xfrm>
            <a:off x="8458200" y="5093208"/>
            <a:ext cx="3291840" cy="10515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Name a set of filters on Lookup, Notes, or Activity and reopen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A1710"/>
        </a:solidFill>
      </p:bgPr>
    </p:bg>
    <p:spTree>
      <p:nvGrpSpPr>
        <p:cNvPr id="1" name=""/>
        <p:cNvGrpSpPr/>
        <p:nvPr/>
      </p:nvGrpSpPr>
      <p:grpSpPr>
        <a:xfrm>
          <a:off x="0" y="0"/>
          <a:ext cx="0" cy="0"/>
          <a:chOff x="0" y="0"/>
          <a:chExt cx="0" cy="0"/>
        </a:xfrm>
      </p:grpSpPr>
      <p:sp>
        <p:nvSpPr>
          <p:cNvPr id="2" name="Text 0"/>
          <p:cNvSpPr/>
          <p:nvPr/>
        </p:nvSpPr>
        <p:spPr>
          <a:xfrm>
            <a:off x="777240" y="77724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Where it goes next</a:t>
            </a:r>
            <a:endParaRPr lang="en-US" sz="3800" dirty="0"/>
          </a:p>
        </p:txBody>
      </p:sp>
      <p:sp>
        <p:nvSpPr>
          <p:cNvPr id="3" name="Shape 1"/>
          <p:cNvSpPr/>
          <p:nvPr/>
        </p:nvSpPr>
        <p:spPr>
          <a:xfrm>
            <a:off x="777240" y="1828800"/>
            <a:ext cx="384048" cy="384048"/>
          </a:xfrm>
          <a:prstGeom prst="ellipse">
            <a:avLst/>
          </a:prstGeom>
          <a:solidFill>
            <a:srgbClr val="D92D20"/>
          </a:solidFill>
          <a:ln/>
        </p:spPr>
      </p:sp>
      <p:sp>
        <p:nvSpPr>
          <p:cNvPr id="4" name="Text 2"/>
          <p:cNvSpPr/>
          <p:nvPr/>
        </p:nvSpPr>
        <p:spPr>
          <a:xfrm>
            <a:off x="777240" y="1828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325880" y="1810512"/>
            <a:ext cx="475488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Type-effectiveness coverage</a:t>
            </a:r>
            <a:endParaRPr lang="en-US" sz="1700" dirty="0"/>
          </a:p>
        </p:txBody>
      </p:sp>
      <p:sp>
        <p:nvSpPr>
          <p:cNvPr id="6" name="Text 4"/>
          <p:cNvSpPr/>
          <p:nvPr/>
        </p:nvSpPr>
        <p:spPr>
          <a:xfrm>
            <a:off x="1325880" y="2176272"/>
            <a:ext cx="4754880" cy="1097280"/>
          </a:xfrm>
          <a:prstGeom prst="rect">
            <a:avLst/>
          </a:prstGeom>
          <a:noFill/>
          <a:ln/>
        </p:spPr>
        <p:txBody>
          <a:bodyPr wrap="square" lIns="0" tIns="0" rIns="0" bIns="0" rtlCol="0" anchor="ctr"/>
          <a:lstStyle/>
          <a:p>
            <a:pPr indent="0" marL="0">
              <a:buNone/>
            </a:pPr>
            <a:r>
              <a:rPr lang="en-US" sz="1300" dirty="0">
                <a:solidFill>
                  <a:srgbClr val="E9A8A1"/>
                </a:solidFill>
                <a:latin typeface="Calibri" pitchFamily="34" charset="0"/>
                <a:ea typeface="Calibri" pitchFamily="34" charset="-122"/>
                <a:cs typeface="Calibri" pitchFamily="34" charset="-120"/>
              </a:rPr>
              <a:t>Eighteen requests turn the roster type chart into a real gap report — “no answer to Steel”.</a:t>
            </a:r>
            <a:endParaRPr lang="en-US" sz="1300" dirty="0"/>
          </a:p>
        </p:txBody>
      </p:sp>
      <p:sp>
        <p:nvSpPr>
          <p:cNvPr id="7" name="Shape 5"/>
          <p:cNvSpPr/>
          <p:nvPr/>
        </p:nvSpPr>
        <p:spPr>
          <a:xfrm>
            <a:off x="6355080" y="1828800"/>
            <a:ext cx="384048" cy="384048"/>
          </a:xfrm>
          <a:prstGeom prst="ellipse">
            <a:avLst/>
          </a:prstGeom>
          <a:solidFill>
            <a:srgbClr val="D92D20"/>
          </a:solidFill>
          <a:ln/>
        </p:spPr>
      </p:sp>
      <p:sp>
        <p:nvSpPr>
          <p:cNvPr id="8" name="Text 6"/>
          <p:cNvSpPr/>
          <p:nvPr/>
        </p:nvSpPr>
        <p:spPr>
          <a:xfrm>
            <a:off x="6355080" y="1828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6903720" y="1810512"/>
            <a:ext cx="475488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Encounters and abilities</a:t>
            </a:r>
            <a:endParaRPr lang="en-US" sz="1700" dirty="0"/>
          </a:p>
        </p:txBody>
      </p:sp>
      <p:sp>
        <p:nvSpPr>
          <p:cNvPr id="10" name="Text 8"/>
          <p:cNvSpPr/>
          <p:nvPr/>
        </p:nvSpPr>
        <p:spPr>
          <a:xfrm>
            <a:off x="6903720" y="2176272"/>
            <a:ext cx="4754880" cy="1097280"/>
          </a:xfrm>
          <a:prstGeom prst="rect">
            <a:avLst/>
          </a:prstGeom>
          <a:noFill/>
          <a:ln/>
        </p:spPr>
        <p:txBody>
          <a:bodyPr wrap="square" lIns="0" tIns="0" rIns="0" bIns="0" rtlCol="0" anchor="ctr"/>
          <a:lstStyle/>
          <a:p>
            <a:pPr indent="0" marL="0">
              <a:buNone/>
            </a:pPr>
            <a:r>
              <a:rPr lang="en-US" sz="1300" dirty="0">
                <a:solidFill>
                  <a:srgbClr val="E9A8A1"/>
                </a:solidFill>
                <a:latin typeface="Calibri" pitchFamily="34" charset="0"/>
                <a:ea typeface="Calibri" pitchFamily="34" charset="-122"/>
                <a:cs typeface="Calibri" pitchFamily="34" charset="-120"/>
              </a:rPr>
              <a:t>Where a Pokémon comes from, and ability text as prose instead of slugs.</a:t>
            </a:r>
            <a:endParaRPr lang="en-US" sz="1300" dirty="0"/>
          </a:p>
        </p:txBody>
      </p:sp>
      <p:sp>
        <p:nvSpPr>
          <p:cNvPr id="11" name="Shape 9"/>
          <p:cNvSpPr/>
          <p:nvPr/>
        </p:nvSpPr>
        <p:spPr>
          <a:xfrm>
            <a:off x="777240" y="3794760"/>
            <a:ext cx="384048" cy="384048"/>
          </a:xfrm>
          <a:prstGeom prst="ellipse">
            <a:avLst/>
          </a:prstGeom>
          <a:solidFill>
            <a:srgbClr val="D92D20"/>
          </a:solidFill>
          <a:ln/>
        </p:spPr>
      </p:sp>
      <p:sp>
        <p:nvSpPr>
          <p:cNvPr id="12" name="Text 10"/>
          <p:cNvSpPr/>
          <p:nvPr/>
        </p:nvSpPr>
        <p:spPr>
          <a:xfrm>
            <a:off x="777240" y="3794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325880" y="3776472"/>
            <a:ext cx="475488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Moves as coursework</a:t>
            </a:r>
            <a:endParaRPr lang="en-US" sz="1700" dirty="0"/>
          </a:p>
        </p:txBody>
      </p:sp>
      <p:sp>
        <p:nvSpPr>
          <p:cNvPr id="14" name="Text 12"/>
          <p:cNvSpPr/>
          <p:nvPr/>
        </p:nvSpPr>
        <p:spPr>
          <a:xfrm>
            <a:off x="1325880" y="4142232"/>
            <a:ext cx="4754880" cy="1097280"/>
          </a:xfrm>
          <a:prstGeom prst="rect">
            <a:avLst/>
          </a:prstGeom>
          <a:noFill/>
          <a:ln/>
        </p:spPr>
        <p:txBody>
          <a:bodyPr wrap="square" lIns="0" tIns="0" rIns="0" bIns="0" rtlCol="0" anchor="ctr"/>
          <a:lstStyle/>
          <a:p>
            <a:pPr indent="0" marL="0">
              <a:buNone/>
            </a:pPr>
            <a:r>
              <a:rPr lang="en-US" sz="1300" dirty="0">
                <a:solidFill>
                  <a:srgbClr val="E9A8A1"/>
                </a:solidFill>
                <a:latin typeface="Calibri" pitchFamily="34" charset="0"/>
                <a:ea typeface="Calibri" pitchFamily="34" charset="-122"/>
                <a:cs typeface="Calibri" pitchFamily="34" charset="-120"/>
              </a:rPr>
              <a:t>The richest unused data in the API, and the one item that is a schema project.</a:t>
            </a:r>
            <a:endParaRPr lang="en-US" sz="1300" dirty="0"/>
          </a:p>
        </p:txBody>
      </p:sp>
      <p:sp>
        <p:nvSpPr>
          <p:cNvPr id="15" name="Shape 13"/>
          <p:cNvSpPr/>
          <p:nvPr/>
        </p:nvSpPr>
        <p:spPr>
          <a:xfrm>
            <a:off x="6355080" y="3794760"/>
            <a:ext cx="384048" cy="384048"/>
          </a:xfrm>
          <a:prstGeom prst="ellipse">
            <a:avLst/>
          </a:prstGeom>
          <a:solidFill>
            <a:srgbClr val="D92D20"/>
          </a:solidFill>
          <a:ln/>
        </p:spPr>
      </p:sp>
      <p:sp>
        <p:nvSpPr>
          <p:cNvPr id="16" name="Text 14"/>
          <p:cNvSpPr/>
          <p:nvPr/>
        </p:nvSpPr>
        <p:spPr>
          <a:xfrm>
            <a:off x="6355080" y="3794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6903720" y="3776472"/>
            <a:ext cx="475488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Tests</a:t>
            </a:r>
            <a:endParaRPr lang="en-US" sz="1700" dirty="0"/>
          </a:p>
        </p:txBody>
      </p:sp>
      <p:sp>
        <p:nvSpPr>
          <p:cNvPr id="18" name="Text 16"/>
          <p:cNvSpPr/>
          <p:nvPr/>
        </p:nvSpPr>
        <p:spPr>
          <a:xfrm>
            <a:off x="6903720" y="4142232"/>
            <a:ext cx="4754880" cy="1097280"/>
          </a:xfrm>
          <a:prstGeom prst="rect">
            <a:avLst/>
          </a:prstGeom>
          <a:noFill/>
          <a:ln/>
        </p:spPr>
        <p:txBody>
          <a:bodyPr wrap="square" lIns="0" tIns="0" rIns="0" bIns="0" rtlCol="0" anchor="ctr"/>
          <a:lstStyle/>
          <a:p>
            <a:pPr indent="0" marL="0">
              <a:buNone/>
            </a:pPr>
            <a:r>
              <a:rPr lang="en-US" sz="1300" dirty="0">
                <a:solidFill>
                  <a:srgbClr val="E9A8A1"/>
                </a:solidFill>
                <a:latin typeface="Calibri" pitchFamily="34" charset="0"/>
                <a:ea typeface="Calibri" pitchFamily="34" charset="-122"/>
                <a:cs typeface="Calibri" pitchFamily="34" charset="-120"/>
              </a:rPr>
              <a:t>A silent subquery bug shipped once. API-level tests over the aggregations would have caught it.</a:t>
            </a:r>
            <a:endParaRPr lang="en-US" sz="1300" dirty="0"/>
          </a:p>
        </p:txBody>
      </p:sp>
      <p:sp>
        <p:nvSpPr>
          <p:cNvPr id="19" name="Text 17"/>
          <p:cNvSpPr/>
          <p:nvPr/>
        </p:nvSpPr>
        <p:spPr>
          <a:xfrm>
            <a:off x="777240" y="6035040"/>
            <a:ext cx="10607040" cy="320040"/>
          </a:xfrm>
          <a:prstGeom prst="rect">
            <a:avLst/>
          </a:prstGeom>
          <a:noFill/>
          <a:ln/>
        </p:spPr>
        <p:txBody>
          <a:bodyPr wrap="square" lIns="0" tIns="0" rIns="0" bIns="0" rtlCol="0" anchor="ctr"/>
          <a:lstStyle/>
          <a:p>
            <a:pPr indent="0" marL="0">
              <a:buNone/>
            </a:pPr>
            <a:r>
              <a:rPr lang="en-US" sz="1100" dirty="0">
                <a:solidFill>
                  <a:srgbClr val="C98B84"/>
                </a:solidFill>
                <a:latin typeface="Calibri" pitchFamily="34" charset="0"/>
                <a:ea typeface="Calibri" pitchFamily="34" charset="-122"/>
                <a:cs typeface="Calibri" pitchFamily="34" charset="-120"/>
              </a:rPr>
              <a:t>Backlog lives in TODO.md · architecture and conventions in CLAUDE.md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Pokémon CRM — demonstration</dc:title>
  <dc:subject>PptxGenJS Presentation</dc:subject>
  <dc:creator>Pokémon CRM</dc:creator>
  <cp:lastModifiedBy>Pokémon CRM</cp:lastModifiedBy>
  <cp:revision>1</cp:revision>
  <dcterms:created xsi:type="dcterms:W3CDTF">2026-08-12T11:35:09Z</dcterms:created>
  <dcterms:modified xsi:type="dcterms:W3CDTF">2026-08-12T11:35:09Z</dcterms:modified>
</cp:coreProperties>
</file>